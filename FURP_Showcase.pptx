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815" autoAdjust="0"/>
    <p:restoredTop sz="94660"/>
  </p:normalViewPr>
  <p:slideViewPr>
    <p:cSldViewPr snapToGrid="0">
      <p:cViewPr>
        <p:scale>
          <a:sx n="50" d="100"/>
          <a:sy n="50" d="100"/>
        </p:scale>
        <p:origin x="134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7B2D6-28C4-4088-A5C0-615989DC8987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6BB28-5E5C-409B-8526-01F829C7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22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6BB28-5E5C-409B-8526-01F829C76B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36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7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defRPr sz="7488"/>
            </a:lvl1pPr>
            <a:lvl2pPr>
              <a:defRPr sz="6552"/>
            </a:lvl2pPr>
            <a:lvl3pPr>
              <a:defRPr sz="5616"/>
            </a:lvl3pPr>
            <a:lvl4pPr>
              <a:defRPr sz="4680"/>
            </a:lvl4pPr>
            <a:lvl5pPr>
              <a:defRPr sz="4680"/>
            </a:lvl5pPr>
            <a:lvl6pPr>
              <a:defRPr sz="4680"/>
            </a:lvl6pPr>
            <a:lvl7pPr>
              <a:defRPr sz="4680"/>
            </a:lvl7pPr>
            <a:lvl8pPr>
              <a:defRPr sz="4680"/>
            </a:lvl8pPr>
            <a:lvl9pPr>
              <a:defRPr sz="4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2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9605" rtl="0" eaLnBrk="1" latinLnBrk="0" hangingPunct="1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901" indent="-534901" algn="l" defTabSz="213960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sz="6552" kern="1200">
          <a:solidFill>
            <a:schemeClr val="tx1"/>
          </a:solidFill>
          <a:latin typeface="+mn-lt"/>
          <a:ea typeface="+mn-ea"/>
          <a:cs typeface="+mn-cs"/>
        </a:defRPr>
      </a:lvl1pPr>
      <a:lvl2pPr marL="160470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674506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3pPr>
      <a:lvl4pPr marL="3744308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814110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88391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953715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8023517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9093319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1pPr>
      <a:lvl2pPr marL="1069802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139605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3pPr>
      <a:lvl4pPr marL="3209407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279209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349011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418814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7488616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8558418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/>
          <p:nvPr/>
        </p:nvSpPr>
        <p:spPr>
          <a:xfrm>
            <a:off x="-1" y="-280988"/>
            <a:ext cx="21396325" cy="1792288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7E90183-F57D-40AB-B9A0-CD958B03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700" y="5555"/>
            <a:ext cx="3308880" cy="122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/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4933" y="252527"/>
            <a:ext cx="7398249" cy="77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ea typeface="SimSun" panose="02010600030101010101" pitchFamily="2" charset="-122"/>
              </a:rPr>
              <a:t>Department of Computer Science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 txBox="1"/>
          <p:nvPr/>
        </p:nvSpPr>
        <p:spPr>
          <a:xfrm>
            <a:off x="2763027" y="29324947"/>
            <a:ext cx="185738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chemeClr val="bg1"/>
                </a:solidFill>
                <a:ea typeface="SimSun" panose="02010600030101010101" pitchFamily="2" charset="-122"/>
              </a:rPr>
              <a:t>Jiabao Cao,</a:t>
            </a:r>
            <a:r>
              <a:rPr lang="en-US" altLang="zh-CN" sz="2800" b="1" dirty="0" err="1">
                <a:solidFill>
                  <a:schemeClr val="bg1"/>
                </a:solidFill>
                <a:ea typeface="SimSun" panose="02010600030101010101" pitchFamily="2" charset="-122"/>
              </a:rPr>
              <a:t>Shengqin</a:t>
            </a:r>
            <a:r>
              <a:rPr lang="en-US" altLang="zh-CN" sz="2800" b="1" dirty="0">
                <a:solidFill>
                  <a:schemeClr val="bg1"/>
                </a:solidFill>
                <a:ea typeface="SimSun" panose="02010600030101010101" pitchFamily="2" charset="-122"/>
              </a:rPr>
              <a:t> Jiang,Wenjing Chen,</a:t>
            </a:r>
            <a:r>
              <a:rPr lang="en-US" altLang="zh-CN" sz="2800" b="1" dirty="0" err="1">
                <a:solidFill>
                  <a:schemeClr val="bg1"/>
                </a:solidFill>
                <a:ea typeface="SimSun" panose="02010600030101010101" pitchFamily="2" charset="-122"/>
              </a:rPr>
              <a:t>Zexian</a:t>
            </a:r>
            <a:r>
              <a:rPr lang="en-US" altLang="zh-CN" sz="2800" b="1" dirty="0">
                <a:solidFill>
                  <a:schemeClr val="bg1"/>
                </a:solidFill>
                <a:ea typeface="SimSun" panose="02010600030101010101" pitchFamily="2" charset="-122"/>
              </a:rPr>
              <a:t> Xiong,</a:t>
            </a:r>
            <a:r>
              <a:rPr lang="en-US" altLang="zh-CN" sz="2800" b="1" dirty="0" err="1">
                <a:solidFill>
                  <a:schemeClr val="bg1"/>
                </a:solidFill>
                <a:ea typeface="SimSun" panose="02010600030101010101" pitchFamily="2" charset="-122"/>
              </a:rPr>
              <a:t>Zhirui</a:t>
            </a:r>
            <a:r>
              <a:rPr lang="en-US" altLang="zh-CN" sz="2800" b="1" dirty="0">
                <a:solidFill>
                  <a:schemeClr val="bg1"/>
                </a:solidFill>
                <a:ea typeface="SimSun" panose="02010600030101010101" pitchFamily="2" charset="-122"/>
              </a:rPr>
              <a:t> Shen</a:t>
            </a:r>
          </a:p>
          <a:p>
            <a:pPr algn="r"/>
            <a:r>
              <a:rPr lang="en-US" altLang="zh-CN" sz="2800" b="1" dirty="0">
                <a:solidFill>
                  <a:schemeClr val="bg1"/>
                </a:solidFill>
                <a:ea typeface="SimSun" panose="02010600030101010101" pitchFamily="2" charset="-122"/>
              </a:rPr>
              <a:t>Supervisor: Fuhua Jia ,</a:t>
            </a:r>
            <a:r>
              <a:rPr lang="en-US" altLang="zh-CN" sz="2800" b="1" dirty="0" err="1">
                <a:solidFill>
                  <a:schemeClr val="bg1"/>
                </a:solidFill>
                <a:ea typeface="SimSun" panose="02010600030101010101" pitchFamily="2" charset="-122"/>
              </a:rPr>
              <a:t>Tianxiang</a:t>
            </a:r>
            <a:r>
              <a:rPr lang="en-US" altLang="zh-CN" sz="2800" b="1" dirty="0">
                <a:solidFill>
                  <a:schemeClr val="bg1"/>
                </a:solidFill>
                <a:ea typeface="SimSun" panose="02010600030101010101" pitchFamily="2" charset="-122"/>
              </a:rPr>
              <a:t> Cui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468" name="Shape 8">
            <a:extLst>
              <a:ext uri="{FF2B5EF4-FFF2-40B4-BE49-F238E27FC236}">
                <a16:creationId xmlns:a16="http://schemas.microsoft.com/office/drawing/2014/main" id="{46FF187A-0C0C-7B94-237D-7F13C0BEB756}"/>
              </a:ext>
            </a:extLst>
          </p:cNvPr>
          <p:cNvSpPr/>
          <p:nvPr/>
        </p:nvSpPr>
        <p:spPr>
          <a:xfrm>
            <a:off x="46106" y="1615440"/>
            <a:ext cx="21289687" cy="33030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470" name="Shape 9">
            <a:extLst>
              <a:ext uri="{FF2B5EF4-FFF2-40B4-BE49-F238E27FC236}">
                <a16:creationId xmlns:a16="http://schemas.microsoft.com/office/drawing/2014/main" id="{D7DA9357-3068-1C31-E817-3A4811A26D5F}"/>
              </a:ext>
            </a:extLst>
          </p:cNvPr>
          <p:cNvSpPr/>
          <p:nvPr/>
        </p:nvSpPr>
        <p:spPr>
          <a:xfrm>
            <a:off x="183267" y="1752600"/>
            <a:ext cx="21152526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474" name="Text 11">
            <a:extLst>
              <a:ext uri="{FF2B5EF4-FFF2-40B4-BE49-F238E27FC236}">
                <a16:creationId xmlns:a16="http://schemas.microsoft.com/office/drawing/2014/main" id="{BC4D05A2-37D2-2A23-0B5F-33A1A5EF0C3B}"/>
              </a:ext>
            </a:extLst>
          </p:cNvPr>
          <p:cNvSpPr/>
          <p:nvPr/>
        </p:nvSpPr>
        <p:spPr>
          <a:xfrm>
            <a:off x="185805" y="1798320"/>
            <a:ext cx="20781169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Abstract</a:t>
            </a:r>
            <a:endParaRPr lang="en-US" sz="3600" b="1" strike="noStrike" spc="-1" dirty="0"/>
          </a:p>
        </p:txBody>
      </p:sp>
      <p:sp>
        <p:nvSpPr>
          <p:cNvPr id="1476" name="Text 12">
            <a:extLst>
              <a:ext uri="{FF2B5EF4-FFF2-40B4-BE49-F238E27FC236}">
                <a16:creationId xmlns:a16="http://schemas.microsoft.com/office/drawing/2014/main" id="{A4812B56-6098-B19B-25C4-570CDB40C654}"/>
              </a:ext>
            </a:extLst>
          </p:cNvPr>
          <p:cNvSpPr/>
          <p:nvPr/>
        </p:nvSpPr>
        <p:spPr>
          <a:xfrm>
            <a:off x="222823" y="2255160"/>
            <a:ext cx="20950675" cy="29977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35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1A365D"/>
                </a:solidFill>
                <a:ea typeface="Calibri"/>
              </a:rPr>
              <a:t>Problem: 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DRL navigation policies achieve &gt;85% success in open environments but catastrophically fail (0% SR) in trap scenarios requiring temporary retreat from the goal.</a:t>
            </a:r>
            <a:r>
              <a:rPr lang="en-US" sz="2800" spc="-1" dirty="0">
                <a:solidFill>
                  <a:srgbClr val="4A5568"/>
                </a:solidFill>
                <a:ea typeface="Calibri"/>
              </a:rPr>
              <a:t> </a:t>
            </a:r>
            <a:r>
              <a:rPr lang="en-US" sz="2800" b="1" strike="noStrike" spc="-1" dirty="0">
                <a:solidFill>
                  <a:srgbClr val="1A365D"/>
                </a:solidFill>
                <a:ea typeface="Calibri"/>
              </a:rPr>
              <a:t>Gap: 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Exploration rewards fix traps (0→83%) but destroy precision (narrow door 100→0%). Reward annealing cannot resolve this conflict. </a:t>
            </a:r>
            <a:r>
              <a:rPr lang="en-US" sz="2800" b="1" strike="noStrike" spc="-1" dirty="0">
                <a:solidFill>
                  <a:srgbClr val="1A365D"/>
                </a:solidFill>
                <a:ea typeface="Calibri"/>
              </a:rPr>
              <a:t>Method: 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We propose Stall-Triggered Policy Switching (STPS), a training-free runtime architecture that detects motion stagnation and dynamically switches between precision and exploration policies. </a:t>
            </a:r>
            <a:r>
              <a:rPr lang="en-US" sz="2800" b="1" strike="noStrike" spc="-1" dirty="0">
                <a:solidFill>
                  <a:srgbClr val="1A365D"/>
                </a:solidFill>
                <a:ea typeface="Calibri"/>
              </a:rPr>
              <a:t>Result: 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STPS achieves 94% average scenario SR (+27 points vs baseline), is the only method without catastrophic failure on any scenario, and matches baseline on standard environments (88%).</a:t>
            </a:r>
            <a:endParaRPr lang="en-US" sz="2800" b="0" strike="noStrike" spc="-1" dirty="0"/>
          </a:p>
        </p:txBody>
      </p:sp>
      <p:sp>
        <p:nvSpPr>
          <p:cNvPr id="1477" name="Shape 13">
            <a:extLst>
              <a:ext uri="{FF2B5EF4-FFF2-40B4-BE49-F238E27FC236}">
                <a16:creationId xmlns:a16="http://schemas.microsoft.com/office/drawing/2014/main" id="{C5DAE53A-96C8-3FA5-A709-9C13E4E6BD81}"/>
              </a:ext>
            </a:extLst>
          </p:cNvPr>
          <p:cNvSpPr/>
          <p:nvPr/>
        </p:nvSpPr>
        <p:spPr>
          <a:xfrm>
            <a:off x="183267" y="5332170"/>
            <a:ext cx="11119733" cy="400233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78" name="Shape 14">
            <a:extLst>
              <a:ext uri="{FF2B5EF4-FFF2-40B4-BE49-F238E27FC236}">
                <a16:creationId xmlns:a16="http://schemas.microsoft.com/office/drawing/2014/main" id="{F1B4AAB4-0C1F-6FC7-253C-4FB5246A0592}"/>
              </a:ext>
            </a:extLst>
          </p:cNvPr>
          <p:cNvSpPr/>
          <p:nvPr/>
        </p:nvSpPr>
        <p:spPr>
          <a:xfrm>
            <a:off x="320427" y="5469330"/>
            <a:ext cx="1090657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80" name="Text 16">
            <a:extLst>
              <a:ext uri="{FF2B5EF4-FFF2-40B4-BE49-F238E27FC236}">
                <a16:creationId xmlns:a16="http://schemas.microsoft.com/office/drawing/2014/main" id="{DF895DC2-ABB6-52EB-D5B4-7FFD4EBAFE14}"/>
              </a:ext>
            </a:extLst>
          </p:cNvPr>
          <p:cNvSpPr/>
          <p:nvPr/>
        </p:nvSpPr>
        <p:spPr>
          <a:xfrm>
            <a:off x="284268" y="5515410"/>
            <a:ext cx="10373662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Introduction</a:t>
            </a:r>
            <a:endParaRPr lang="en-US" sz="3200" b="0" strike="noStrike" spc="-1" dirty="0"/>
          </a:p>
        </p:txBody>
      </p:sp>
      <p:sp>
        <p:nvSpPr>
          <p:cNvPr id="1481" name="Text 17">
            <a:extLst>
              <a:ext uri="{FF2B5EF4-FFF2-40B4-BE49-F238E27FC236}">
                <a16:creationId xmlns:a16="http://schemas.microsoft.com/office/drawing/2014/main" id="{5E48E3CD-7156-A62A-1BDC-9369B748C334}"/>
              </a:ext>
            </a:extLst>
          </p:cNvPr>
          <p:cNvSpPr/>
          <p:nvPr/>
        </p:nvSpPr>
        <p:spPr>
          <a:xfrm>
            <a:off x="457587" y="6155130"/>
            <a:ext cx="10693407" cy="31793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strike="noStrike" spc="-1" dirty="0">
                <a:solidFill>
                  <a:srgbClr val="1A365D"/>
                </a:solidFill>
                <a:ea typeface="Calibri"/>
              </a:rPr>
              <a:t>Deep reinforcement learning (DRL)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 has become standard for </a:t>
            </a:r>
            <a:r>
              <a:rPr lang="en-US" sz="2800" b="0" strike="noStrike" spc="-1" dirty="0" err="1">
                <a:solidFill>
                  <a:srgbClr val="4A5568"/>
                </a:solidFill>
                <a:ea typeface="Calibri"/>
              </a:rPr>
              <a:t>mapless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 robot navigation, mapping raw LiDAR to velocity commands. CNN-TD3 achieves high success rates in cluttered environments.</a:t>
            </a:r>
            <a:endParaRPr lang="en-US" sz="2800" b="0" strike="noStrike" spc="-1" dirty="0"/>
          </a:p>
          <a:p>
            <a:endParaRPr lang="en-US" sz="2800" b="0" strike="noStrike" spc="-1" dirty="0"/>
          </a:p>
          <a:p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However, in </a:t>
            </a:r>
            <a:r>
              <a:rPr lang="en-US" sz="2800" b="1" strike="noStrike" spc="-1" dirty="0">
                <a:solidFill>
                  <a:srgbClr val="C53030"/>
                </a:solidFill>
                <a:ea typeface="Calibri"/>
              </a:rPr>
              <a:t>trap scenarios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 — U-shaped dead ends, narrow corridors requiring retreat — greedy goal-directed rewards cause the robot to oscillate until timeout.</a:t>
            </a:r>
            <a:endParaRPr lang="en-US" sz="2800" b="0" strike="noStrike" spc="-1" dirty="0"/>
          </a:p>
          <a:p>
            <a:endParaRPr lang="en-US" sz="2800" b="0" strike="noStrike" spc="-1" dirty="0"/>
          </a:p>
        </p:txBody>
      </p:sp>
      <p:sp>
        <p:nvSpPr>
          <p:cNvPr id="1543" name="Shape 18">
            <a:extLst>
              <a:ext uri="{FF2B5EF4-FFF2-40B4-BE49-F238E27FC236}">
                <a16:creationId xmlns:a16="http://schemas.microsoft.com/office/drawing/2014/main" id="{B922B567-0751-BFFC-F158-6143ADC75843}"/>
              </a:ext>
            </a:extLst>
          </p:cNvPr>
          <p:cNvSpPr/>
          <p:nvPr/>
        </p:nvSpPr>
        <p:spPr>
          <a:xfrm>
            <a:off x="11565998" y="5375740"/>
            <a:ext cx="9498578" cy="400233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545" name="Shape 19">
            <a:extLst>
              <a:ext uri="{FF2B5EF4-FFF2-40B4-BE49-F238E27FC236}">
                <a16:creationId xmlns:a16="http://schemas.microsoft.com/office/drawing/2014/main" id="{CCF905B9-1D79-537E-E85F-7697C40A53DA}"/>
              </a:ext>
            </a:extLst>
          </p:cNvPr>
          <p:cNvSpPr/>
          <p:nvPr/>
        </p:nvSpPr>
        <p:spPr>
          <a:xfrm>
            <a:off x="11727959" y="5491650"/>
            <a:ext cx="9316492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549" name="Text 21">
            <a:extLst>
              <a:ext uri="{FF2B5EF4-FFF2-40B4-BE49-F238E27FC236}">
                <a16:creationId xmlns:a16="http://schemas.microsoft.com/office/drawing/2014/main" id="{74230B84-11D4-DE97-CEFB-32FA310DBDB9}"/>
              </a:ext>
            </a:extLst>
          </p:cNvPr>
          <p:cNvSpPr/>
          <p:nvPr/>
        </p:nvSpPr>
        <p:spPr>
          <a:xfrm>
            <a:off x="11865119" y="5515410"/>
            <a:ext cx="8861277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Key Finding: Exploration–Precision Conflict</a:t>
            </a:r>
            <a:endParaRPr lang="en-US" sz="3600" b="0" strike="noStrike" spc="-1" dirty="0"/>
          </a:p>
        </p:txBody>
      </p:sp>
      <p:sp>
        <p:nvSpPr>
          <p:cNvPr id="1551" name="Text 22">
            <a:extLst>
              <a:ext uri="{FF2B5EF4-FFF2-40B4-BE49-F238E27FC236}">
                <a16:creationId xmlns:a16="http://schemas.microsoft.com/office/drawing/2014/main" id="{E483E663-1BDA-AAAD-81D0-00B8BC9597CA}"/>
              </a:ext>
            </a:extLst>
          </p:cNvPr>
          <p:cNvSpPr/>
          <p:nvPr/>
        </p:nvSpPr>
        <p:spPr>
          <a:xfrm>
            <a:off x="11865119" y="6268710"/>
            <a:ext cx="9101855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2800" b="1" strike="noStrike" spc="-1" dirty="0">
                <a:solidFill>
                  <a:srgbClr val="276749"/>
                </a:solidFill>
                <a:ea typeface="Calibri"/>
              </a:rPr>
              <a:t>Exploration bonus </a:t>
            </a: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solves U-trap (0→83%) but </a:t>
            </a:r>
            <a:r>
              <a:rPr lang="en-US" sz="2800" b="1" strike="noStrike" spc="-1" dirty="0">
                <a:solidFill>
                  <a:srgbClr val="C53030"/>
                </a:solidFill>
                <a:ea typeface="Calibri"/>
              </a:rPr>
              <a:t>kills narrow door (100→0%).</a:t>
            </a:r>
            <a:endParaRPr lang="en-US" sz="2800" spc="-1" dirty="0"/>
          </a:p>
          <a:p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Annealing recovers narrow door but loses U-trap.</a:t>
            </a:r>
            <a:endParaRPr lang="en-US" sz="2800" b="0" strike="noStrike" spc="-1" dirty="0"/>
          </a:p>
        </p:txBody>
      </p:sp>
      <p:sp>
        <p:nvSpPr>
          <p:cNvPr id="1553" name="Text 23">
            <a:extLst>
              <a:ext uri="{FF2B5EF4-FFF2-40B4-BE49-F238E27FC236}">
                <a16:creationId xmlns:a16="http://schemas.microsoft.com/office/drawing/2014/main" id="{3663E67D-EBA8-F7A1-9BD2-A1FFC859B243}"/>
              </a:ext>
            </a:extLst>
          </p:cNvPr>
          <p:cNvSpPr/>
          <p:nvPr/>
        </p:nvSpPr>
        <p:spPr>
          <a:xfrm>
            <a:off x="12331633" y="7366000"/>
            <a:ext cx="2542742" cy="2991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FFFFFF"/>
                </a:solidFill>
                <a:ea typeface="Arial"/>
              </a:rPr>
              <a:t>Method</a:t>
            </a:r>
            <a:endParaRPr lang="en-US" sz="2800" b="0" strike="noStrike" spc="-1" dirty="0"/>
          </a:p>
        </p:txBody>
      </p:sp>
      <p:sp>
        <p:nvSpPr>
          <p:cNvPr id="1555" name="Text 24">
            <a:extLst>
              <a:ext uri="{FF2B5EF4-FFF2-40B4-BE49-F238E27FC236}">
                <a16:creationId xmlns:a16="http://schemas.microsoft.com/office/drawing/2014/main" id="{59D3A425-F177-C0DF-F119-8E1878906BB7}"/>
              </a:ext>
            </a:extLst>
          </p:cNvPr>
          <p:cNvSpPr/>
          <p:nvPr/>
        </p:nvSpPr>
        <p:spPr>
          <a:xfrm>
            <a:off x="14573401" y="7366000"/>
            <a:ext cx="1180482" cy="2991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FFFFFF"/>
                </a:solidFill>
                <a:ea typeface="Arial"/>
              </a:rPr>
              <a:t>Std</a:t>
            </a:r>
            <a:endParaRPr lang="en-US" sz="2800" b="0" strike="noStrike" spc="-1" dirty="0"/>
          </a:p>
        </p:txBody>
      </p:sp>
      <p:sp>
        <p:nvSpPr>
          <p:cNvPr id="1557" name="Text 25">
            <a:extLst>
              <a:ext uri="{FF2B5EF4-FFF2-40B4-BE49-F238E27FC236}">
                <a16:creationId xmlns:a16="http://schemas.microsoft.com/office/drawing/2014/main" id="{9FECFE6F-BE4C-CEC5-6DF3-BE5A6ED81B25}"/>
              </a:ext>
            </a:extLst>
          </p:cNvPr>
          <p:cNvSpPr/>
          <p:nvPr/>
        </p:nvSpPr>
        <p:spPr>
          <a:xfrm>
            <a:off x="15675050" y="7366000"/>
            <a:ext cx="1180482" cy="2991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FFFFFF"/>
                </a:solidFill>
                <a:ea typeface="Arial"/>
              </a:rPr>
              <a:t>U-trap</a:t>
            </a:r>
            <a:endParaRPr lang="en-US" sz="2800" b="0" strike="noStrike" spc="-1" dirty="0"/>
          </a:p>
        </p:txBody>
      </p:sp>
      <p:sp>
        <p:nvSpPr>
          <p:cNvPr id="1559" name="Text 26">
            <a:extLst>
              <a:ext uri="{FF2B5EF4-FFF2-40B4-BE49-F238E27FC236}">
                <a16:creationId xmlns:a16="http://schemas.microsoft.com/office/drawing/2014/main" id="{B66E8C60-A093-1788-5AB7-D1CFFB8CDA51}"/>
              </a:ext>
            </a:extLst>
          </p:cNvPr>
          <p:cNvSpPr/>
          <p:nvPr/>
        </p:nvSpPr>
        <p:spPr>
          <a:xfrm>
            <a:off x="16797498" y="7366000"/>
            <a:ext cx="1180482" cy="2991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FFFFFF"/>
                </a:solidFill>
                <a:ea typeface="Arial"/>
              </a:rPr>
              <a:t>Narrow</a:t>
            </a:r>
            <a:endParaRPr lang="en-US" sz="2800" b="0" strike="noStrike" spc="-1" dirty="0"/>
          </a:p>
        </p:txBody>
      </p:sp>
      <p:sp>
        <p:nvSpPr>
          <p:cNvPr id="1561" name="Text 27">
            <a:extLst>
              <a:ext uri="{FF2B5EF4-FFF2-40B4-BE49-F238E27FC236}">
                <a16:creationId xmlns:a16="http://schemas.microsoft.com/office/drawing/2014/main" id="{235F1EBE-D455-3C21-E640-18C795CF05AE}"/>
              </a:ext>
            </a:extLst>
          </p:cNvPr>
          <p:cNvSpPr/>
          <p:nvPr/>
        </p:nvSpPr>
        <p:spPr>
          <a:xfrm>
            <a:off x="17920319" y="7366000"/>
            <a:ext cx="1180482" cy="2991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ea typeface="Arial"/>
              </a:rPr>
              <a:t>Avg</a:t>
            </a:r>
            <a:endParaRPr lang="en-US" sz="2800" b="0" strike="noStrike" spc="-1"/>
          </a:p>
        </p:txBody>
      </p:sp>
      <p:sp>
        <p:nvSpPr>
          <p:cNvPr id="1563" name="Text 28">
            <a:extLst>
              <a:ext uri="{FF2B5EF4-FFF2-40B4-BE49-F238E27FC236}">
                <a16:creationId xmlns:a16="http://schemas.microsoft.com/office/drawing/2014/main" id="{C2AD3660-59EE-B094-73A0-CC8A17D6E68C}"/>
              </a:ext>
            </a:extLst>
          </p:cNvPr>
          <p:cNvSpPr/>
          <p:nvPr/>
        </p:nvSpPr>
        <p:spPr>
          <a:xfrm>
            <a:off x="12331633" y="7713400"/>
            <a:ext cx="254274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Baseline</a:t>
            </a:r>
            <a:endParaRPr lang="en-US" sz="2800" b="0" strike="noStrike" spc="-1" dirty="0"/>
          </a:p>
        </p:txBody>
      </p:sp>
      <p:sp>
        <p:nvSpPr>
          <p:cNvPr id="1565" name="Text 29">
            <a:extLst>
              <a:ext uri="{FF2B5EF4-FFF2-40B4-BE49-F238E27FC236}">
                <a16:creationId xmlns:a16="http://schemas.microsoft.com/office/drawing/2014/main" id="{62111849-E62F-E5E8-1283-9F80D33861DD}"/>
              </a:ext>
            </a:extLst>
          </p:cNvPr>
          <p:cNvSpPr/>
          <p:nvPr/>
        </p:nvSpPr>
        <p:spPr>
          <a:xfrm>
            <a:off x="14573401" y="771340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87%</a:t>
            </a:r>
            <a:endParaRPr lang="en-US" sz="2800" b="0" strike="noStrike" spc="-1" dirty="0"/>
          </a:p>
        </p:txBody>
      </p:sp>
      <p:sp>
        <p:nvSpPr>
          <p:cNvPr id="1567" name="Text 30">
            <a:extLst>
              <a:ext uri="{FF2B5EF4-FFF2-40B4-BE49-F238E27FC236}">
                <a16:creationId xmlns:a16="http://schemas.microsoft.com/office/drawing/2014/main" id="{F8D3C302-A96A-C507-E296-CE37B0E80465}"/>
              </a:ext>
            </a:extLst>
          </p:cNvPr>
          <p:cNvSpPr/>
          <p:nvPr/>
        </p:nvSpPr>
        <p:spPr>
          <a:xfrm>
            <a:off x="15675050" y="771340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C53030"/>
                </a:solidFill>
                <a:ea typeface="Arial"/>
              </a:rPr>
              <a:t>0%</a:t>
            </a:r>
            <a:endParaRPr lang="en-US" sz="2800" b="0" strike="noStrike" spc="-1"/>
          </a:p>
        </p:txBody>
      </p:sp>
      <p:sp>
        <p:nvSpPr>
          <p:cNvPr id="1569" name="Text 31">
            <a:extLst>
              <a:ext uri="{FF2B5EF4-FFF2-40B4-BE49-F238E27FC236}">
                <a16:creationId xmlns:a16="http://schemas.microsoft.com/office/drawing/2014/main" id="{9EF79BCE-AF9D-CE8C-CF39-3DF8E4E39217}"/>
              </a:ext>
            </a:extLst>
          </p:cNvPr>
          <p:cNvSpPr/>
          <p:nvPr/>
        </p:nvSpPr>
        <p:spPr>
          <a:xfrm>
            <a:off x="16784798" y="771340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76749"/>
                </a:solidFill>
                <a:ea typeface="Arial"/>
              </a:rPr>
              <a:t>100%</a:t>
            </a:r>
            <a:endParaRPr lang="en-US" sz="2800" b="0" strike="noStrike" spc="-1" dirty="0"/>
          </a:p>
        </p:txBody>
      </p:sp>
      <p:sp>
        <p:nvSpPr>
          <p:cNvPr id="1571" name="Text 32">
            <a:extLst>
              <a:ext uri="{FF2B5EF4-FFF2-40B4-BE49-F238E27FC236}">
                <a16:creationId xmlns:a16="http://schemas.microsoft.com/office/drawing/2014/main" id="{50FD4091-CA8C-838A-3EE0-34E6717CE62A}"/>
              </a:ext>
            </a:extLst>
          </p:cNvPr>
          <p:cNvSpPr/>
          <p:nvPr/>
        </p:nvSpPr>
        <p:spPr>
          <a:xfrm>
            <a:off x="17920319" y="771340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67%</a:t>
            </a:r>
            <a:endParaRPr lang="en-US" sz="2800" b="0" strike="noStrike" spc="-1" dirty="0"/>
          </a:p>
        </p:txBody>
      </p:sp>
      <p:sp>
        <p:nvSpPr>
          <p:cNvPr id="1573" name="Text 33">
            <a:extLst>
              <a:ext uri="{FF2B5EF4-FFF2-40B4-BE49-F238E27FC236}">
                <a16:creationId xmlns:a16="http://schemas.microsoft.com/office/drawing/2014/main" id="{4153D138-3BB5-EDE9-B210-48BD8B6560F9}"/>
              </a:ext>
            </a:extLst>
          </p:cNvPr>
          <p:cNvSpPr/>
          <p:nvPr/>
        </p:nvSpPr>
        <p:spPr>
          <a:xfrm>
            <a:off x="12331633" y="8060800"/>
            <a:ext cx="254274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Curriculum</a:t>
            </a:r>
            <a:endParaRPr lang="en-US" sz="2800" b="0" strike="noStrike" spc="-1" dirty="0"/>
          </a:p>
        </p:txBody>
      </p:sp>
      <p:sp>
        <p:nvSpPr>
          <p:cNvPr id="1575" name="Text 34">
            <a:extLst>
              <a:ext uri="{FF2B5EF4-FFF2-40B4-BE49-F238E27FC236}">
                <a16:creationId xmlns:a16="http://schemas.microsoft.com/office/drawing/2014/main" id="{03B54986-3B89-E8A2-F6FD-C0E7DC2FC6D4}"/>
              </a:ext>
            </a:extLst>
          </p:cNvPr>
          <p:cNvSpPr/>
          <p:nvPr/>
        </p:nvSpPr>
        <p:spPr>
          <a:xfrm>
            <a:off x="14573401" y="806080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74%</a:t>
            </a:r>
            <a:endParaRPr lang="en-US" sz="2800" b="0" strike="noStrike" spc="-1" dirty="0"/>
          </a:p>
        </p:txBody>
      </p:sp>
      <p:sp>
        <p:nvSpPr>
          <p:cNvPr id="1577" name="Text 35">
            <a:extLst>
              <a:ext uri="{FF2B5EF4-FFF2-40B4-BE49-F238E27FC236}">
                <a16:creationId xmlns:a16="http://schemas.microsoft.com/office/drawing/2014/main" id="{4F1F4C0D-7315-7E53-2C51-F03786508BED}"/>
              </a:ext>
            </a:extLst>
          </p:cNvPr>
          <p:cNvSpPr/>
          <p:nvPr/>
        </p:nvSpPr>
        <p:spPr>
          <a:xfrm>
            <a:off x="15675050" y="806080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C53030"/>
                </a:solidFill>
                <a:ea typeface="Arial"/>
              </a:rPr>
              <a:t>0%</a:t>
            </a:r>
            <a:endParaRPr lang="en-US" sz="2800" b="0" strike="noStrike" spc="-1"/>
          </a:p>
        </p:txBody>
      </p:sp>
      <p:sp>
        <p:nvSpPr>
          <p:cNvPr id="1579" name="Text 36">
            <a:extLst>
              <a:ext uri="{FF2B5EF4-FFF2-40B4-BE49-F238E27FC236}">
                <a16:creationId xmlns:a16="http://schemas.microsoft.com/office/drawing/2014/main" id="{A3F7D186-76B2-FABB-E948-30EE43B1494E}"/>
              </a:ext>
            </a:extLst>
          </p:cNvPr>
          <p:cNvSpPr/>
          <p:nvPr/>
        </p:nvSpPr>
        <p:spPr>
          <a:xfrm>
            <a:off x="16784798" y="806080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C53030"/>
                </a:solidFill>
                <a:ea typeface="Arial"/>
              </a:rPr>
              <a:t>8%</a:t>
            </a:r>
            <a:endParaRPr lang="en-US" sz="2800" b="0" strike="noStrike" spc="-1" dirty="0"/>
          </a:p>
        </p:txBody>
      </p:sp>
      <p:sp>
        <p:nvSpPr>
          <p:cNvPr id="1581" name="Text 37">
            <a:extLst>
              <a:ext uri="{FF2B5EF4-FFF2-40B4-BE49-F238E27FC236}">
                <a16:creationId xmlns:a16="http://schemas.microsoft.com/office/drawing/2014/main" id="{485DD5B6-4403-D781-F1CA-572C5E230FB6}"/>
              </a:ext>
            </a:extLst>
          </p:cNvPr>
          <p:cNvSpPr/>
          <p:nvPr/>
        </p:nvSpPr>
        <p:spPr>
          <a:xfrm>
            <a:off x="17920319" y="806080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4A5568"/>
                </a:solidFill>
                <a:ea typeface="Arial"/>
              </a:rPr>
              <a:t>52%</a:t>
            </a:r>
            <a:endParaRPr lang="en-US" sz="2800" b="0" strike="noStrike" spc="-1"/>
          </a:p>
        </p:txBody>
      </p:sp>
      <p:sp>
        <p:nvSpPr>
          <p:cNvPr id="1583" name="Text 38">
            <a:extLst>
              <a:ext uri="{FF2B5EF4-FFF2-40B4-BE49-F238E27FC236}">
                <a16:creationId xmlns:a16="http://schemas.microsoft.com/office/drawing/2014/main" id="{7E3B1BA4-0731-47EB-C3B9-48DDE9F76C5B}"/>
              </a:ext>
            </a:extLst>
          </p:cNvPr>
          <p:cNvSpPr/>
          <p:nvPr/>
        </p:nvSpPr>
        <p:spPr>
          <a:xfrm>
            <a:off x="12331633" y="8408560"/>
            <a:ext cx="254274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Exploration</a:t>
            </a:r>
            <a:endParaRPr lang="en-US" sz="2800" b="0" strike="noStrike" spc="-1" dirty="0"/>
          </a:p>
        </p:txBody>
      </p:sp>
      <p:sp>
        <p:nvSpPr>
          <p:cNvPr id="1585" name="Text 39">
            <a:extLst>
              <a:ext uri="{FF2B5EF4-FFF2-40B4-BE49-F238E27FC236}">
                <a16:creationId xmlns:a16="http://schemas.microsoft.com/office/drawing/2014/main" id="{C5FD3F32-9CF3-30B9-373D-38F5581166A5}"/>
              </a:ext>
            </a:extLst>
          </p:cNvPr>
          <p:cNvSpPr/>
          <p:nvPr/>
        </p:nvSpPr>
        <p:spPr>
          <a:xfrm>
            <a:off x="14573401" y="840856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80%</a:t>
            </a:r>
            <a:endParaRPr lang="en-US" sz="2800" b="0" strike="noStrike" spc="-1" dirty="0"/>
          </a:p>
        </p:txBody>
      </p:sp>
      <p:sp>
        <p:nvSpPr>
          <p:cNvPr id="1587" name="Text 40">
            <a:extLst>
              <a:ext uri="{FF2B5EF4-FFF2-40B4-BE49-F238E27FC236}">
                <a16:creationId xmlns:a16="http://schemas.microsoft.com/office/drawing/2014/main" id="{3AD6FF01-3E38-A64C-DD73-351E5B8663EF}"/>
              </a:ext>
            </a:extLst>
          </p:cNvPr>
          <p:cNvSpPr/>
          <p:nvPr/>
        </p:nvSpPr>
        <p:spPr>
          <a:xfrm>
            <a:off x="15675050" y="840856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276749"/>
                </a:solidFill>
                <a:ea typeface="Arial"/>
              </a:rPr>
              <a:t>83%</a:t>
            </a:r>
            <a:endParaRPr lang="en-US" sz="2800" b="0" strike="noStrike" spc="-1"/>
          </a:p>
        </p:txBody>
      </p:sp>
      <p:sp>
        <p:nvSpPr>
          <p:cNvPr id="1589" name="Text 41">
            <a:extLst>
              <a:ext uri="{FF2B5EF4-FFF2-40B4-BE49-F238E27FC236}">
                <a16:creationId xmlns:a16="http://schemas.microsoft.com/office/drawing/2014/main" id="{8BFEA201-1AF6-495A-7649-9683493DC6AD}"/>
              </a:ext>
            </a:extLst>
          </p:cNvPr>
          <p:cNvSpPr/>
          <p:nvPr/>
        </p:nvSpPr>
        <p:spPr>
          <a:xfrm>
            <a:off x="16784798" y="840856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C53030"/>
                </a:solidFill>
                <a:ea typeface="Arial"/>
              </a:rPr>
              <a:t>0%</a:t>
            </a:r>
            <a:endParaRPr lang="en-US" sz="2800" b="0" strike="noStrike" spc="-1" dirty="0"/>
          </a:p>
        </p:txBody>
      </p:sp>
      <p:sp>
        <p:nvSpPr>
          <p:cNvPr id="1591" name="Text 42">
            <a:extLst>
              <a:ext uri="{FF2B5EF4-FFF2-40B4-BE49-F238E27FC236}">
                <a16:creationId xmlns:a16="http://schemas.microsoft.com/office/drawing/2014/main" id="{D077506D-6BFD-1FAB-C555-69466DF851B1}"/>
              </a:ext>
            </a:extLst>
          </p:cNvPr>
          <p:cNvSpPr/>
          <p:nvPr/>
        </p:nvSpPr>
        <p:spPr>
          <a:xfrm>
            <a:off x="17920319" y="8408560"/>
            <a:ext cx="1180482" cy="2991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71%</a:t>
            </a:r>
            <a:endParaRPr lang="en-US" sz="2800" b="0" strike="noStrike" spc="-1" dirty="0"/>
          </a:p>
        </p:txBody>
      </p:sp>
      <p:sp>
        <p:nvSpPr>
          <p:cNvPr id="1593" name="Text 43">
            <a:extLst>
              <a:ext uri="{FF2B5EF4-FFF2-40B4-BE49-F238E27FC236}">
                <a16:creationId xmlns:a16="http://schemas.microsoft.com/office/drawing/2014/main" id="{51C25563-716E-26AC-116E-4FB9D9116EBB}"/>
              </a:ext>
            </a:extLst>
          </p:cNvPr>
          <p:cNvSpPr/>
          <p:nvPr/>
        </p:nvSpPr>
        <p:spPr>
          <a:xfrm>
            <a:off x="12331633" y="8755960"/>
            <a:ext cx="254274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Annealed</a:t>
            </a:r>
            <a:endParaRPr lang="en-US" sz="2800" b="0" strike="noStrike" spc="-1" dirty="0"/>
          </a:p>
        </p:txBody>
      </p:sp>
      <p:sp>
        <p:nvSpPr>
          <p:cNvPr id="1595" name="Text 44">
            <a:extLst>
              <a:ext uri="{FF2B5EF4-FFF2-40B4-BE49-F238E27FC236}">
                <a16:creationId xmlns:a16="http://schemas.microsoft.com/office/drawing/2014/main" id="{B4014F6A-DC3B-F8B1-2785-4E24A2700F01}"/>
              </a:ext>
            </a:extLst>
          </p:cNvPr>
          <p:cNvSpPr/>
          <p:nvPr/>
        </p:nvSpPr>
        <p:spPr>
          <a:xfrm>
            <a:off x="14573401" y="875596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Arial"/>
              </a:rPr>
              <a:t>82%</a:t>
            </a:r>
            <a:endParaRPr lang="en-US" sz="2800" b="0" strike="noStrike" spc="-1" dirty="0"/>
          </a:p>
        </p:txBody>
      </p:sp>
      <p:sp>
        <p:nvSpPr>
          <p:cNvPr id="1597" name="Text 45">
            <a:extLst>
              <a:ext uri="{FF2B5EF4-FFF2-40B4-BE49-F238E27FC236}">
                <a16:creationId xmlns:a16="http://schemas.microsoft.com/office/drawing/2014/main" id="{229913BD-BA86-7A59-4369-E5961B27EEDD}"/>
              </a:ext>
            </a:extLst>
          </p:cNvPr>
          <p:cNvSpPr/>
          <p:nvPr/>
        </p:nvSpPr>
        <p:spPr>
          <a:xfrm>
            <a:off x="15675050" y="875596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C53030"/>
                </a:solidFill>
                <a:ea typeface="Arial"/>
              </a:rPr>
              <a:t>0%</a:t>
            </a:r>
            <a:endParaRPr lang="en-US" sz="2800" b="0" strike="noStrike" spc="-1"/>
          </a:p>
        </p:txBody>
      </p:sp>
      <p:sp>
        <p:nvSpPr>
          <p:cNvPr id="1599" name="Text 46">
            <a:extLst>
              <a:ext uri="{FF2B5EF4-FFF2-40B4-BE49-F238E27FC236}">
                <a16:creationId xmlns:a16="http://schemas.microsoft.com/office/drawing/2014/main" id="{EEB5ADD1-5C0D-9BF6-9179-95DABC539AD1}"/>
              </a:ext>
            </a:extLst>
          </p:cNvPr>
          <p:cNvSpPr/>
          <p:nvPr/>
        </p:nvSpPr>
        <p:spPr>
          <a:xfrm>
            <a:off x="16784798" y="875596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76749"/>
                </a:solidFill>
                <a:ea typeface="Arial"/>
              </a:rPr>
              <a:t>100%</a:t>
            </a:r>
            <a:endParaRPr lang="en-US" sz="2800" b="0" strike="noStrike" spc="-1" dirty="0"/>
          </a:p>
        </p:txBody>
      </p:sp>
      <p:sp>
        <p:nvSpPr>
          <p:cNvPr id="1601" name="Text 47">
            <a:extLst>
              <a:ext uri="{FF2B5EF4-FFF2-40B4-BE49-F238E27FC236}">
                <a16:creationId xmlns:a16="http://schemas.microsoft.com/office/drawing/2014/main" id="{A2CB7F50-0FB6-F572-0700-B7DEFE04239A}"/>
              </a:ext>
            </a:extLst>
          </p:cNvPr>
          <p:cNvSpPr/>
          <p:nvPr/>
        </p:nvSpPr>
        <p:spPr>
          <a:xfrm>
            <a:off x="17920319" y="8755960"/>
            <a:ext cx="1180482" cy="2991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81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4A5568"/>
                </a:solidFill>
                <a:ea typeface="Arial"/>
              </a:rPr>
              <a:t>75%</a:t>
            </a:r>
            <a:endParaRPr lang="en-US" sz="2800" b="0" strike="noStrike" spc="-1"/>
          </a:p>
        </p:txBody>
      </p:sp>
      <p:sp>
        <p:nvSpPr>
          <p:cNvPr id="1701" name="Shape 49">
            <a:extLst>
              <a:ext uri="{FF2B5EF4-FFF2-40B4-BE49-F238E27FC236}">
                <a16:creationId xmlns:a16="http://schemas.microsoft.com/office/drawing/2014/main" id="{AB15C2AA-66A4-4F08-6E74-4EDC56E4D19A}"/>
              </a:ext>
            </a:extLst>
          </p:cNvPr>
          <p:cNvSpPr/>
          <p:nvPr/>
        </p:nvSpPr>
        <p:spPr>
          <a:xfrm>
            <a:off x="282588" y="9595759"/>
            <a:ext cx="20890910" cy="439964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400" dirty="0"/>
          </a:p>
        </p:txBody>
      </p:sp>
      <p:sp>
        <p:nvSpPr>
          <p:cNvPr id="1703" name="Shape 50">
            <a:extLst>
              <a:ext uri="{FF2B5EF4-FFF2-40B4-BE49-F238E27FC236}">
                <a16:creationId xmlns:a16="http://schemas.microsoft.com/office/drawing/2014/main" id="{F6098DDE-7FE7-BC4D-F437-39D4484059E5}"/>
              </a:ext>
            </a:extLst>
          </p:cNvPr>
          <p:cNvSpPr/>
          <p:nvPr/>
        </p:nvSpPr>
        <p:spPr>
          <a:xfrm>
            <a:off x="419748" y="9634917"/>
            <a:ext cx="20693202" cy="525393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400"/>
          </a:p>
        </p:txBody>
      </p:sp>
      <p:sp>
        <p:nvSpPr>
          <p:cNvPr id="1707" name="Text 52">
            <a:extLst>
              <a:ext uri="{FF2B5EF4-FFF2-40B4-BE49-F238E27FC236}">
                <a16:creationId xmlns:a16="http://schemas.microsoft.com/office/drawing/2014/main" id="{698291B6-7CD8-3CEF-6A4D-5363746F1E09}"/>
              </a:ext>
            </a:extLst>
          </p:cNvPr>
          <p:cNvSpPr/>
          <p:nvPr/>
        </p:nvSpPr>
        <p:spPr>
          <a:xfrm>
            <a:off x="496752" y="9638720"/>
            <a:ext cx="20198931" cy="4377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Method: Stall-Triggered Policy Switching (STPS)</a:t>
            </a:r>
            <a:endParaRPr lang="en-US" sz="3600" b="0" strike="noStrike" spc="-1" dirty="0"/>
          </a:p>
        </p:txBody>
      </p:sp>
      <p:sp>
        <p:nvSpPr>
          <p:cNvPr id="1709" name="Shape 53">
            <a:extLst>
              <a:ext uri="{FF2B5EF4-FFF2-40B4-BE49-F238E27FC236}">
                <a16:creationId xmlns:a16="http://schemas.microsoft.com/office/drawing/2014/main" id="{B3C0CBF2-E4F5-9E11-9146-923EE6B7BBBE}"/>
              </a:ext>
            </a:extLst>
          </p:cNvPr>
          <p:cNvSpPr/>
          <p:nvPr/>
        </p:nvSpPr>
        <p:spPr>
          <a:xfrm>
            <a:off x="2524485" y="10385336"/>
            <a:ext cx="4283419" cy="1576868"/>
          </a:xfrm>
          <a:prstGeom prst="roundRect">
            <a:avLst>
              <a:gd name="adj" fmla="val 8333"/>
            </a:avLst>
          </a:prstGeom>
          <a:solidFill>
            <a:srgbClr val="EBF8FF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400"/>
          </a:p>
        </p:txBody>
      </p:sp>
      <p:sp>
        <p:nvSpPr>
          <p:cNvPr id="1711" name="Text 54">
            <a:extLst>
              <a:ext uri="{FF2B5EF4-FFF2-40B4-BE49-F238E27FC236}">
                <a16:creationId xmlns:a16="http://schemas.microsoft.com/office/drawing/2014/main" id="{665ABBA4-9078-6D99-4DE2-976A5B819B05}"/>
              </a:ext>
            </a:extLst>
          </p:cNvPr>
          <p:cNvSpPr/>
          <p:nvPr/>
        </p:nvSpPr>
        <p:spPr>
          <a:xfrm>
            <a:off x="2524485" y="10496354"/>
            <a:ext cx="4283419" cy="7006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2B6CB0"/>
                </a:solidFill>
                <a:ea typeface="Arial"/>
              </a:rPr>
              <a:t>MAIN MODE</a:t>
            </a:r>
            <a:endParaRPr lang="en-US" sz="3200" b="0" strike="noStrike" spc="-1" dirty="0"/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2B6CB0"/>
                </a:solidFill>
                <a:ea typeface="Arial"/>
              </a:rPr>
              <a:t>Precision policy πP</a:t>
            </a:r>
            <a:endParaRPr lang="en-US" sz="3200" b="0" strike="noStrike" spc="-1" dirty="0"/>
          </a:p>
        </p:txBody>
      </p:sp>
      <p:sp>
        <p:nvSpPr>
          <p:cNvPr id="1713" name="Text 55">
            <a:extLst>
              <a:ext uri="{FF2B5EF4-FFF2-40B4-BE49-F238E27FC236}">
                <a16:creationId xmlns:a16="http://schemas.microsoft.com/office/drawing/2014/main" id="{08B59B59-F0B6-E8BC-8975-3D88564DD6EE}"/>
              </a:ext>
            </a:extLst>
          </p:cNvPr>
          <p:cNvSpPr/>
          <p:nvPr/>
        </p:nvSpPr>
        <p:spPr>
          <a:xfrm>
            <a:off x="2972061" y="11272182"/>
            <a:ext cx="3624391" cy="6130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4A5568"/>
                </a:solidFill>
                <a:ea typeface="Calibri"/>
              </a:rPr>
              <a:t>Standard goal-directed</a:t>
            </a:r>
            <a:endParaRPr lang="en-US" sz="2000" b="0" strike="noStrike" spc="-1" dirty="0"/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4A5568"/>
                </a:solidFill>
                <a:ea typeface="Calibri"/>
              </a:rPr>
              <a:t>navigation (DEFAULT)</a:t>
            </a:r>
            <a:endParaRPr lang="en-US" sz="2000" b="0" strike="noStrike" spc="-1" dirty="0"/>
          </a:p>
        </p:txBody>
      </p:sp>
      <p:sp>
        <p:nvSpPr>
          <p:cNvPr id="1715" name="Shape 56">
            <a:extLst>
              <a:ext uri="{FF2B5EF4-FFF2-40B4-BE49-F238E27FC236}">
                <a16:creationId xmlns:a16="http://schemas.microsoft.com/office/drawing/2014/main" id="{02713D28-E75A-047E-A36D-67D3208A82D4}"/>
              </a:ext>
            </a:extLst>
          </p:cNvPr>
          <p:cNvSpPr/>
          <p:nvPr/>
        </p:nvSpPr>
        <p:spPr>
          <a:xfrm>
            <a:off x="14849283" y="10385336"/>
            <a:ext cx="4283419" cy="1576868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 w="19050">
            <a:solidFill>
              <a:srgbClr val="C530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400"/>
          </a:p>
        </p:txBody>
      </p:sp>
      <p:sp>
        <p:nvSpPr>
          <p:cNvPr id="1717" name="Text 57">
            <a:extLst>
              <a:ext uri="{FF2B5EF4-FFF2-40B4-BE49-F238E27FC236}">
                <a16:creationId xmlns:a16="http://schemas.microsoft.com/office/drawing/2014/main" id="{5070832E-89C3-6A33-B624-D37AF4186F1B}"/>
              </a:ext>
            </a:extLst>
          </p:cNvPr>
          <p:cNvSpPr/>
          <p:nvPr/>
        </p:nvSpPr>
        <p:spPr>
          <a:xfrm>
            <a:off x="14849283" y="10515604"/>
            <a:ext cx="4283419" cy="7006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C53030"/>
                </a:solidFill>
                <a:ea typeface="Arial"/>
              </a:rPr>
              <a:t>ESCAPE MODE</a:t>
            </a:r>
            <a:endParaRPr lang="en-US" sz="3200" b="0" strike="noStrike" spc="-1" dirty="0"/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C53030"/>
                </a:solidFill>
                <a:ea typeface="Arial"/>
              </a:rPr>
              <a:t>Exploration policy πE</a:t>
            </a:r>
            <a:endParaRPr lang="en-US" sz="3200" b="0" strike="noStrike" spc="-1" dirty="0"/>
          </a:p>
        </p:txBody>
      </p:sp>
      <p:sp>
        <p:nvSpPr>
          <p:cNvPr id="1719" name="Text 58">
            <a:extLst>
              <a:ext uri="{FF2B5EF4-FFF2-40B4-BE49-F238E27FC236}">
                <a16:creationId xmlns:a16="http://schemas.microsoft.com/office/drawing/2014/main" id="{338F8BF0-D800-813B-E5DA-CEF832407245}"/>
              </a:ext>
            </a:extLst>
          </p:cNvPr>
          <p:cNvSpPr/>
          <p:nvPr/>
        </p:nvSpPr>
        <p:spPr>
          <a:xfrm>
            <a:off x="15287234" y="11291432"/>
            <a:ext cx="3624391" cy="6130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4A5568"/>
                </a:solidFill>
                <a:ea typeface="Calibri"/>
              </a:rPr>
              <a:t>Novelty-seeking</a:t>
            </a:r>
            <a:endParaRPr lang="en-US" sz="2000" b="0" strike="noStrike" spc="-1" dirty="0"/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4A5568"/>
                </a:solidFill>
                <a:ea typeface="Calibri"/>
              </a:rPr>
              <a:t>navigation (TEMPORARY)</a:t>
            </a:r>
            <a:endParaRPr lang="en-US" sz="2000" b="0" strike="noStrike" spc="-1" dirty="0"/>
          </a:p>
        </p:txBody>
      </p:sp>
      <p:sp>
        <p:nvSpPr>
          <p:cNvPr id="1721" name="Shape 59">
            <a:extLst>
              <a:ext uri="{FF2B5EF4-FFF2-40B4-BE49-F238E27FC236}">
                <a16:creationId xmlns:a16="http://schemas.microsoft.com/office/drawing/2014/main" id="{950DB7CF-8AFA-6AF0-EB71-EE1DDE389797}"/>
              </a:ext>
            </a:extLst>
          </p:cNvPr>
          <p:cNvSpPr/>
          <p:nvPr/>
        </p:nvSpPr>
        <p:spPr>
          <a:xfrm>
            <a:off x="8604483" y="10963325"/>
            <a:ext cx="4613192" cy="345"/>
          </a:xfrm>
          <a:prstGeom prst="line">
            <a:avLst/>
          </a:prstGeom>
          <a:ln w="25400">
            <a:solidFill>
              <a:srgbClr val="C5303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400"/>
          </a:p>
        </p:txBody>
      </p:sp>
      <p:sp>
        <p:nvSpPr>
          <p:cNvPr id="1723" name="Text 60">
            <a:extLst>
              <a:ext uri="{FF2B5EF4-FFF2-40B4-BE49-F238E27FC236}">
                <a16:creationId xmlns:a16="http://schemas.microsoft.com/office/drawing/2014/main" id="{E74503DC-059D-32E5-DD4F-B93C7746CA39}"/>
              </a:ext>
            </a:extLst>
          </p:cNvPr>
          <p:cNvSpPr/>
          <p:nvPr/>
        </p:nvSpPr>
        <p:spPr>
          <a:xfrm>
            <a:off x="9391028" y="10412144"/>
            <a:ext cx="3953905" cy="3501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C53030"/>
                </a:solidFill>
                <a:ea typeface="Calibri"/>
              </a:rPr>
              <a:t>Stall: ‖xₜ−xₜ₋₂₀‖&lt;0.15m OR oscillation≥5/12</a:t>
            </a:r>
            <a:endParaRPr lang="en-US" sz="2800" b="0" strike="noStrike" spc="-1" dirty="0"/>
          </a:p>
        </p:txBody>
      </p:sp>
      <p:sp>
        <p:nvSpPr>
          <p:cNvPr id="1725" name="Shape 61">
            <a:extLst>
              <a:ext uri="{FF2B5EF4-FFF2-40B4-BE49-F238E27FC236}">
                <a16:creationId xmlns:a16="http://schemas.microsoft.com/office/drawing/2014/main" id="{AE39C439-B9DC-379C-058E-C03642A09CA8}"/>
              </a:ext>
            </a:extLst>
          </p:cNvPr>
          <p:cNvSpPr/>
          <p:nvPr/>
        </p:nvSpPr>
        <p:spPr>
          <a:xfrm>
            <a:off x="8696041" y="11722785"/>
            <a:ext cx="4613192" cy="345"/>
          </a:xfrm>
          <a:prstGeom prst="line">
            <a:avLst/>
          </a:prstGeom>
          <a:ln w="25400">
            <a:solidFill>
              <a:srgbClr val="276749"/>
            </a:solidFill>
            <a:round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400"/>
          </a:p>
        </p:txBody>
      </p:sp>
      <p:sp>
        <p:nvSpPr>
          <p:cNvPr id="1727" name="Text 62">
            <a:extLst>
              <a:ext uri="{FF2B5EF4-FFF2-40B4-BE49-F238E27FC236}">
                <a16:creationId xmlns:a16="http://schemas.microsoft.com/office/drawing/2014/main" id="{45D9B28B-F361-9ACC-1017-1D974F94A686}"/>
              </a:ext>
            </a:extLst>
          </p:cNvPr>
          <p:cNvSpPr/>
          <p:nvPr/>
        </p:nvSpPr>
        <p:spPr>
          <a:xfrm>
            <a:off x="9124328" y="12046873"/>
            <a:ext cx="3953905" cy="3063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76749"/>
                </a:solidFill>
                <a:ea typeface="Calibri"/>
              </a:rPr>
              <a:t>Escaped: k≥120 AND ‖xₜ−</a:t>
            </a:r>
            <a:r>
              <a:rPr lang="en-US" sz="2800" b="0" strike="noStrike" spc="-1" dirty="0" err="1">
                <a:solidFill>
                  <a:srgbClr val="276749"/>
                </a:solidFill>
                <a:ea typeface="Calibri"/>
              </a:rPr>
              <a:t>xsw</a:t>
            </a:r>
            <a:r>
              <a:rPr lang="en-US" sz="2800" b="0" strike="noStrike" spc="-1" dirty="0">
                <a:solidFill>
                  <a:srgbClr val="276749"/>
                </a:solidFill>
                <a:ea typeface="Calibri"/>
              </a:rPr>
              <a:t>‖&gt;0.5m</a:t>
            </a:r>
            <a:endParaRPr lang="en-US" sz="2800" b="0" strike="noStrike" spc="-1" dirty="0"/>
          </a:p>
        </p:txBody>
      </p:sp>
      <p:sp>
        <p:nvSpPr>
          <p:cNvPr id="1729" name="Text 63">
            <a:extLst>
              <a:ext uri="{FF2B5EF4-FFF2-40B4-BE49-F238E27FC236}">
                <a16:creationId xmlns:a16="http://schemas.microsoft.com/office/drawing/2014/main" id="{6C8B25A9-55C6-264C-852F-0ED9B203566E}"/>
              </a:ext>
            </a:extLst>
          </p:cNvPr>
          <p:cNvSpPr/>
          <p:nvPr/>
        </p:nvSpPr>
        <p:spPr>
          <a:xfrm>
            <a:off x="1167494" y="13070691"/>
            <a:ext cx="6260501" cy="3063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●  Zero training cost: Frozen policies + runtime logic</a:t>
            </a:r>
            <a:endParaRPr lang="en-US" sz="2800" b="0" strike="noStrike" spc="-1" dirty="0"/>
          </a:p>
        </p:txBody>
      </p:sp>
      <p:sp>
        <p:nvSpPr>
          <p:cNvPr id="1731" name="Text 64">
            <a:extLst>
              <a:ext uri="{FF2B5EF4-FFF2-40B4-BE49-F238E27FC236}">
                <a16:creationId xmlns:a16="http://schemas.microsoft.com/office/drawing/2014/main" id="{E8A46DF2-BD74-9B7D-94D2-897F9AE2461B}"/>
              </a:ext>
            </a:extLst>
          </p:cNvPr>
          <p:cNvSpPr/>
          <p:nvPr/>
        </p:nvSpPr>
        <p:spPr>
          <a:xfrm>
            <a:off x="8351000" y="13115156"/>
            <a:ext cx="6260501" cy="3063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●  &lt;0.1ms overhead: One distance check per step</a:t>
            </a:r>
            <a:endParaRPr lang="en-US" sz="2800" b="0" strike="noStrike" spc="-1" dirty="0"/>
          </a:p>
        </p:txBody>
      </p:sp>
      <p:sp>
        <p:nvSpPr>
          <p:cNvPr id="1733" name="Text 65">
            <a:extLst>
              <a:ext uri="{FF2B5EF4-FFF2-40B4-BE49-F238E27FC236}">
                <a16:creationId xmlns:a16="http://schemas.microsoft.com/office/drawing/2014/main" id="{AB9DD42A-35A9-4CA0-2B4B-444100CFF69C}"/>
              </a:ext>
            </a:extLst>
          </p:cNvPr>
          <p:cNvSpPr/>
          <p:nvPr/>
        </p:nvSpPr>
        <p:spPr>
          <a:xfrm>
            <a:off x="15493842" y="13104075"/>
            <a:ext cx="6260501" cy="3063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4A5568"/>
                </a:solidFill>
                <a:ea typeface="Calibri"/>
              </a:rPr>
              <a:t>●  Real-robot ready: Simple if-else, deployable on LIMO</a:t>
            </a:r>
            <a:endParaRPr lang="en-US" sz="2800" b="0" strike="noStrike" spc="-1" dirty="0"/>
          </a:p>
        </p:txBody>
      </p:sp>
      <p:sp>
        <p:nvSpPr>
          <p:cNvPr id="1735" name="Shape 97">
            <a:extLst>
              <a:ext uri="{FF2B5EF4-FFF2-40B4-BE49-F238E27FC236}">
                <a16:creationId xmlns:a16="http://schemas.microsoft.com/office/drawing/2014/main" id="{C2C949B4-E414-4974-946D-23BC1D126F9F}"/>
              </a:ext>
            </a:extLst>
          </p:cNvPr>
          <p:cNvSpPr/>
          <p:nvPr/>
        </p:nvSpPr>
        <p:spPr>
          <a:xfrm>
            <a:off x="46107" y="13901668"/>
            <a:ext cx="20920867" cy="6686272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37" name="Shape 98">
            <a:extLst>
              <a:ext uri="{FF2B5EF4-FFF2-40B4-BE49-F238E27FC236}">
                <a16:creationId xmlns:a16="http://schemas.microsoft.com/office/drawing/2014/main" id="{FB82BF14-D5E3-C8EF-C986-820677BE6107}"/>
              </a:ext>
            </a:extLst>
          </p:cNvPr>
          <p:cNvSpPr/>
          <p:nvPr/>
        </p:nvSpPr>
        <p:spPr>
          <a:xfrm>
            <a:off x="269892" y="14038828"/>
            <a:ext cx="20722875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" name="Text 100">
            <a:extLst>
              <a:ext uri="{FF2B5EF4-FFF2-40B4-BE49-F238E27FC236}">
                <a16:creationId xmlns:a16="http://schemas.microsoft.com/office/drawing/2014/main" id="{8269CF59-B805-1773-0DC0-B237063DF2A6}"/>
              </a:ext>
            </a:extLst>
          </p:cNvPr>
          <p:cNvSpPr/>
          <p:nvPr/>
        </p:nvSpPr>
        <p:spPr>
          <a:xfrm>
            <a:off x="320427" y="14065674"/>
            <a:ext cx="20227896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Main Results: STPS Outperforms All Single Policies</a:t>
            </a:r>
            <a:endParaRPr lang="en-US" sz="36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3" name="Text 101">
            <a:extLst>
              <a:ext uri="{FF2B5EF4-FFF2-40B4-BE49-F238E27FC236}">
                <a16:creationId xmlns:a16="http://schemas.microsoft.com/office/drawing/2014/main" id="{F0ACC467-D398-CC52-1D8C-98B4DE4B1EDB}"/>
              </a:ext>
            </a:extLst>
          </p:cNvPr>
          <p:cNvSpPr/>
          <p:nvPr/>
        </p:nvSpPr>
        <p:spPr>
          <a:xfrm>
            <a:off x="731906" y="14854536"/>
            <a:ext cx="2072488" cy="744892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Method</a:t>
            </a:r>
            <a:endParaRPr lang="en-US" sz="11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5" name="Text 102">
            <a:extLst>
              <a:ext uri="{FF2B5EF4-FFF2-40B4-BE49-F238E27FC236}">
                <a16:creationId xmlns:a16="http://schemas.microsoft.com/office/drawing/2014/main" id="{BC3F4D52-76C8-D6A3-B8A8-00B4F9DDDEC7}"/>
              </a:ext>
            </a:extLst>
          </p:cNvPr>
          <p:cNvSpPr/>
          <p:nvPr/>
        </p:nvSpPr>
        <p:spPr>
          <a:xfrm>
            <a:off x="2763027" y="14854536"/>
            <a:ext cx="1295077" cy="744892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Standard</a:t>
            </a:r>
            <a:endParaRPr lang="en-US" sz="11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7" name="Text 103">
            <a:extLst>
              <a:ext uri="{FF2B5EF4-FFF2-40B4-BE49-F238E27FC236}">
                <a16:creationId xmlns:a16="http://schemas.microsoft.com/office/drawing/2014/main" id="{38C7BB9A-4740-A152-86AE-AF83EEEB2719}"/>
              </a:ext>
            </a:extLst>
          </p:cNvPr>
          <p:cNvSpPr/>
          <p:nvPr/>
        </p:nvSpPr>
        <p:spPr>
          <a:xfrm>
            <a:off x="4032026" y="14854536"/>
            <a:ext cx="1295443" cy="744892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 </a:t>
            </a:r>
            <a:r>
              <a:rPr lang="en-US" sz="2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U-trap</a:t>
            </a:r>
            <a:endParaRPr lang="en-US" sz="11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9" name="Text 104">
            <a:extLst>
              <a:ext uri="{FF2B5EF4-FFF2-40B4-BE49-F238E27FC236}">
                <a16:creationId xmlns:a16="http://schemas.microsoft.com/office/drawing/2014/main" id="{072D24E4-5EA2-CBA5-0A87-8045BC9F30C7}"/>
              </a:ext>
            </a:extLst>
          </p:cNvPr>
          <p:cNvSpPr/>
          <p:nvPr/>
        </p:nvSpPr>
        <p:spPr>
          <a:xfrm>
            <a:off x="5301386" y="14854536"/>
            <a:ext cx="1295443" cy="744892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Double-U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51" name="Text 105">
            <a:extLst>
              <a:ext uri="{FF2B5EF4-FFF2-40B4-BE49-F238E27FC236}">
                <a16:creationId xmlns:a16="http://schemas.microsoft.com/office/drawing/2014/main" id="{5AD24F21-F17C-7D9C-208F-4DE5BF48C379}"/>
              </a:ext>
            </a:extLst>
          </p:cNvPr>
          <p:cNvSpPr/>
          <p:nvPr/>
        </p:nvSpPr>
        <p:spPr>
          <a:xfrm>
            <a:off x="6571107" y="14854536"/>
            <a:ext cx="1295077" cy="744892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Narrow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53" name="Text 106">
            <a:extLst>
              <a:ext uri="{FF2B5EF4-FFF2-40B4-BE49-F238E27FC236}">
                <a16:creationId xmlns:a16="http://schemas.microsoft.com/office/drawing/2014/main" id="{28C60716-F305-451C-5236-524F6B78AA76}"/>
              </a:ext>
            </a:extLst>
          </p:cNvPr>
          <p:cNvSpPr/>
          <p:nvPr/>
        </p:nvSpPr>
        <p:spPr>
          <a:xfrm>
            <a:off x="7840467" y="14854536"/>
            <a:ext cx="1295077" cy="744892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Corridor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55" name="Text 107">
            <a:extLst>
              <a:ext uri="{FF2B5EF4-FFF2-40B4-BE49-F238E27FC236}">
                <a16:creationId xmlns:a16="http://schemas.microsoft.com/office/drawing/2014/main" id="{BFCC62D1-1DD4-48A9-8771-4B51D89199A5}"/>
              </a:ext>
            </a:extLst>
          </p:cNvPr>
          <p:cNvSpPr/>
          <p:nvPr/>
        </p:nvSpPr>
        <p:spPr>
          <a:xfrm>
            <a:off x="9109466" y="14854536"/>
            <a:ext cx="1295443" cy="744892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Scenario Avg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57" name="Text 108">
            <a:extLst>
              <a:ext uri="{FF2B5EF4-FFF2-40B4-BE49-F238E27FC236}">
                <a16:creationId xmlns:a16="http://schemas.microsoft.com/office/drawing/2014/main" id="{7B1B8800-3F1E-2574-6ED6-2AE11D8F4440}"/>
              </a:ext>
            </a:extLst>
          </p:cNvPr>
          <p:cNvSpPr/>
          <p:nvPr/>
        </p:nvSpPr>
        <p:spPr>
          <a:xfrm>
            <a:off x="731906" y="15638598"/>
            <a:ext cx="2072488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CNNTD3 baseline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59" name="Text 109">
            <a:extLst>
              <a:ext uri="{FF2B5EF4-FFF2-40B4-BE49-F238E27FC236}">
                <a16:creationId xmlns:a16="http://schemas.microsoft.com/office/drawing/2014/main" id="{75D584D9-0A37-0F1E-85E4-0A8CE758BDE0}"/>
              </a:ext>
            </a:extLst>
          </p:cNvPr>
          <p:cNvSpPr/>
          <p:nvPr/>
        </p:nvSpPr>
        <p:spPr>
          <a:xfrm>
            <a:off x="2763027" y="1563859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87%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61" name="Text 110">
            <a:extLst>
              <a:ext uri="{FF2B5EF4-FFF2-40B4-BE49-F238E27FC236}">
                <a16:creationId xmlns:a16="http://schemas.microsoft.com/office/drawing/2014/main" id="{086456BD-C920-1269-F9E1-596E5A5AF3E3}"/>
              </a:ext>
            </a:extLst>
          </p:cNvPr>
          <p:cNvSpPr/>
          <p:nvPr/>
        </p:nvSpPr>
        <p:spPr>
          <a:xfrm>
            <a:off x="4032026" y="1563859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63" name="Text 111">
            <a:extLst>
              <a:ext uri="{FF2B5EF4-FFF2-40B4-BE49-F238E27FC236}">
                <a16:creationId xmlns:a16="http://schemas.microsoft.com/office/drawing/2014/main" id="{A29161BD-C83B-9471-1B49-E6B7BBE736A8}"/>
              </a:ext>
            </a:extLst>
          </p:cNvPr>
          <p:cNvSpPr/>
          <p:nvPr/>
        </p:nvSpPr>
        <p:spPr>
          <a:xfrm>
            <a:off x="5301386" y="1563859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69±4%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65" name="Text 112">
            <a:extLst>
              <a:ext uri="{FF2B5EF4-FFF2-40B4-BE49-F238E27FC236}">
                <a16:creationId xmlns:a16="http://schemas.microsoft.com/office/drawing/2014/main" id="{0F7608C9-D2E1-6773-BBB9-469E92AC8E7E}"/>
              </a:ext>
            </a:extLst>
          </p:cNvPr>
          <p:cNvSpPr/>
          <p:nvPr/>
        </p:nvSpPr>
        <p:spPr>
          <a:xfrm>
            <a:off x="6571107" y="1563859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67" name="Text 113">
            <a:extLst>
              <a:ext uri="{FF2B5EF4-FFF2-40B4-BE49-F238E27FC236}">
                <a16:creationId xmlns:a16="http://schemas.microsoft.com/office/drawing/2014/main" id="{BFF87BC6-E107-B85D-C94F-2BCC34882F3A}"/>
              </a:ext>
            </a:extLst>
          </p:cNvPr>
          <p:cNvSpPr/>
          <p:nvPr/>
        </p:nvSpPr>
        <p:spPr>
          <a:xfrm>
            <a:off x="7840467" y="1563859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69" name="Text 114">
            <a:extLst>
              <a:ext uri="{FF2B5EF4-FFF2-40B4-BE49-F238E27FC236}">
                <a16:creationId xmlns:a16="http://schemas.microsoft.com/office/drawing/2014/main" id="{944DC61F-E208-5014-367E-A68AF2C79A2C}"/>
              </a:ext>
            </a:extLst>
          </p:cNvPr>
          <p:cNvSpPr/>
          <p:nvPr/>
        </p:nvSpPr>
        <p:spPr>
          <a:xfrm>
            <a:off x="9109466" y="1563859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67%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71" name="Text 115">
            <a:extLst>
              <a:ext uri="{FF2B5EF4-FFF2-40B4-BE49-F238E27FC236}">
                <a16:creationId xmlns:a16="http://schemas.microsoft.com/office/drawing/2014/main" id="{5C573CEF-C1BB-341B-2C96-675D660F684A}"/>
              </a:ext>
            </a:extLst>
          </p:cNvPr>
          <p:cNvSpPr/>
          <p:nvPr/>
        </p:nvSpPr>
        <p:spPr>
          <a:xfrm>
            <a:off x="731906" y="16422336"/>
            <a:ext cx="2072488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RCPG (GRU)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73" name="Text 116">
            <a:extLst>
              <a:ext uri="{FF2B5EF4-FFF2-40B4-BE49-F238E27FC236}">
                <a16:creationId xmlns:a16="http://schemas.microsoft.com/office/drawing/2014/main" id="{898E1DA9-B61B-685B-9BEE-4E2992F7C45C}"/>
              </a:ext>
            </a:extLst>
          </p:cNvPr>
          <p:cNvSpPr/>
          <p:nvPr/>
        </p:nvSpPr>
        <p:spPr>
          <a:xfrm>
            <a:off x="2763027" y="16422336"/>
            <a:ext cx="1295077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88%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75" name="Text 117">
            <a:extLst>
              <a:ext uri="{FF2B5EF4-FFF2-40B4-BE49-F238E27FC236}">
                <a16:creationId xmlns:a16="http://schemas.microsoft.com/office/drawing/2014/main" id="{8396FD48-F0B5-BACF-D69B-A46A067FF992}"/>
              </a:ext>
            </a:extLst>
          </p:cNvPr>
          <p:cNvSpPr/>
          <p:nvPr/>
        </p:nvSpPr>
        <p:spPr>
          <a:xfrm>
            <a:off x="4032026" y="16422336"/>
            <a:ext cx="1295443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0±0%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77" name="Text 118">
            <a:extLst>
              <a:ext uri="{FF2B5EF4-FFF2-40B4-BE49-F238E27FC236}">
                <a16:creationId xmlns:a16="http://schemas.microsoft.com/office/drawing/2014/main" id="{B2A19A9E-1FA0-8155-E975-D1F1A00BCF46}"/>
              </a:ext>
            </a:extLst>
          </p:cNvPr>
          <p:cNvSpPr/>
          <p:nvPr/>
        </p:nvSpPr>
        <p:spPr>
          <a:xfrm>
            <a:off x="5301386" y="16422336"/>
            <a:ext cx="1295443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79" name="Text 119">
            <a:extLst>
              <a:ext uri="{FF2B5EF4-FFF2-40B4-BE49-F238E27FC236}">
                <a16:creationId xmlns:a16="http://schemas.microsoft.com/office/drawing/2014/main" id="{C637FF85-E04D-EFA7-9103-4C52B551210A}"/>
              </a:ext>
            </a:extLst>
          </p:cNvPr>
          <p:cNvSpPr/>
          <p:nvPr/>
        </p:nvSpPr>
        <p:spPr>
          <a:xfrm>
            <a:off x="6571107" y="16422336"/>
            <a:ext cx="1295077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75±0%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81" name="Text 120">
            <a:extLst>
              <a:ext uri="{FF2B5EF4-FFF2-40B4-BE49-F238E27FC236}">
                <a16:creationId xmlns:a16="http://schemas.microsoft.com/office/drawing/2014/main" id="{5B89FF2A-21FD-6562-030D-FA4E025B8717}"/>
              </a:ext>
            </a:extLst>
          </p:cNvPr>
          <p:cNvSpPr/>
          <p:nvPr/>
        </p:nvSpPr>
        <p:spPr>
          <a:xfrm>
            <a:off x="7840467" y="16422336"/>
            <a:ext cx="1295077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83" name="Text 121">
            <a:extLst>
              <a:ext uri="{FF2B5EF4-FFF2-40B4-BE49-F238E27FC236}">
                <a16:creationId xmlns:a16="http://schemas.microsoft.com/office/drawing/2014/main" id="{1FA0734B-64B1-420A-3909-E347E6722997}"/>
              </a:ext>
            </a:extLst>
          </p:cNvPr>
          <p:cNvSpPr/>
          <p:nvPr/>
        </p:nvSpPr>
        <p:spPr>
          <a:xfrm>
            <a:off x="9109466" y="16422336"/>
            <a:ext cx="1295443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44%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85" name="Text 122">
            <a:extLst>
              <a:ext uri="{FF2B5EF4-FFF2-40B4-BE49-F238E27FC236}">
                <a16:creationId xmlns:a16="http://schemas.microsoft.com/office/drawing/2014/main" id="{81B83CD9-71EC-7296-997F-8DF51875BEEE}"/>
              </a:ext>
            </a:extLst>
          </p:cNvPr>
          <p:cNvSpPr/>
          <p:nvPr/>
        </p:nvSpPr>
        <p:spPr>
          <a:xfrm>
            <a:off x="731906" y="17205678"/>
            <a:ext cx="2072488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Curriculum only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87" name="Text 123">
            <a:extLst>
              <a:ext uri="{FF2B5EF4-FFF2-40B4-BE49-F238E27FC236}">
                <a16:creationId xmlns:a16="http://schemas.microsoft.com/office/drawing/2014/main" id="{27B2AD72-4F4D-0E8E-9835-31CFC014F37D}"/>
              </a:ext>
            </a:extLst>
          </p:cNvPr>
          <p:cNvSpPr/>
          <p:nvPr/>
        </p:nvSpPr>
        <p:spPr>
          <a:xfrm>
            <a:off x="2763027" y="1720567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74%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89" name="Text 124">
            <a:extLst>
              <a:ext uri="{FF2B5EF4-FFF2-40B4-BE49-F238E27FC236}">
                <a16:creationId xmlns:a16="http://schemas.microsoft.com/office/drawing/2014/main" id="{AD7575B6-3711-FF28-A18E-89C50C1F0413}"/>
              </a:ext>
            </a:extLst>
          </p:cNvPr>
          <p:cNvSpPr/>
          <p:nvPr/>
        </p:nvSpPr>
        <p:spPr>
          <a:xfrm>
            <a:off x="4032026" y="1720567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91" name="Text 125">
            <a:extLst>
              <a:ext uri="{FF2B5EF4-FFF2-40B4-BE49-F238E27FC236}">
                <a16:creationId xmlns:a16="http://schemas.microsoft.com/office/drawing/2014/main" id="{FC802800-11D4-083A-EEF9-A6B3C20D6D17}"/>
              </a:ext>
            </a:extLst>
          </p:cNvPr>
          <p:cNvSpPr/>
          <p:nvPr/>
        </p:nvSpPr>
        <p:spPr>
          <a:xfrm>
            <a:off x="5301386" y="1720567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93" name="Text 126">
            <a:extLst>
              <a:ext uri="{FF2B5EF4-FFF2-40B4-BE49-F238E27FC236}">
                <a16:creationId xmlns:a16="http://schemas.microsoft.com/office/drawing/2014/main" id="{9F790291-0BD2-7C75-006D-D90EB660BF33}"/>
              </a:ext>
            </a:extLst>
          </p:cNvPr>
          <p:cNvSpPr/>
          <p:nvPr/>
        </p:nvSpPr>
        <p:spPr>
          <a:xfrm>
            <a:off x="6571107" y="1720567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8±0%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95" name="Text 127">
            <a:extLst>
              <a:ext uri="{FF2B5EF4-FFF2-40B4-BE49-F238E27FC236}">
                <a16:creationId xmlns:a16="http://schemas.microsoft.com/office/drawing/2014/main" id="{2C856500-50CC-0570-5117-1B2DA4B8D6CF}"/>
              </a:ext>
            </a:extLst>
          </p:cNvPr>
          <p:cNvSpPr/>
          <p:nvPr/>
        </p:nvSpPr>
        <p:spPr>
          <a:xfrm>
            <a:off x="7840467" y="1720567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97" name="Text 128">
            <a:extLst>
              <a:ext uri="{FF2B5EF4-FFF2-40B4-BE49-F238E27FC236}">
                <a16:creationId xmlns:a16="http://schemas.microsoft.com/office/drawing/2014/main" id="{2204EB01-A47F-3066-9EB4-B665714F7B2A}"/>
              </a:ext>
            </a:extLst>
          </p:cNvPr>
          <p:cNvSpPr/>
          <p:nvPr/>
        </p:nvSpPr>
        <p:spPr>
          <a:xfrm>
            <a:off x="9109466" y="1720567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52%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99" name="Text 129">
            <a:extLst>
              <a:ext uri="{FF2B5EF4-FFF2-40B4-BE49-F238E27FC236}">
                <a16:creationId xmlns:a16="http://schemas.microsoft.com/office/drawing/2014/main" id="{919F6895-C89A-4CBD-A063-75266531BEDB}"/>
              </a:ext>
            </a:extLst>
          </p:cNvPr>
          <p:cNvSpPr/>
          <p:nvPr/>
        </p:nvSpPr>
        <p:spPr>
          <a:xfrm>
            <a:off x="731906" y="17989416"/>
            <a:ext cx="2072488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Exploration (πE)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01" name="Text 130">
            <a:extLst>
              <a:ext uri="{FF2B5EF4-FFF2-40B4-BE49-F238E27FC236}">
                <a16:creationId xmlns:a16="http://schemas.microsoft.com/office/drawing/2014/main" id="{F85ADD14-6A7A-059A-C488-65A40554168B}"/>
              </a:ext>
            </a:extLst>
          </p:cNvPr>
          <p:cNvSpPr/>
          <p:nvPr/>
        </p:nvSpPr>
        <p:spPr>
          <a:xfrm>
            <a:off x="2763027" y="17989416"/>
            <a:ext cx="1295077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80%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03" name="Text 131">
            <a:extLst>
              <a:ext uri="{FF2B5EF4-FFF2-40B4-BE49-F238E27FC236}">
                <a16:creationId xmlns:a16="http://schemas.microsoft.com/office/drawing/2014/main" id="{1D578C8F-975A-D3D8-FF76-C4B25CB9F0FF}"/>
              </a:ext>
            </a:extLst>
          </p:cNvPr>
          <p:cNvSpPr/>
          <p:nvPr/>
        </p:nvSpPr>
        <p:spPr>
          <a:xfrm>
            <a:off x="4032026" y="17989416"/>
            <a:ext cx="1295443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83±0%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05" name="Text 132">
            <a:extLst>
              <a:ext uri="{FF2B5EF4-FFF2-40B4-BE49-F238E27FC236}">
                <a16:creationId xmlns:a16="http://schemas.microsoft.com/office/drawing/2014/main" id="{7A63BA06-41E7-FAF4-F5F1-728508A86ABF}"/>
              </a:ext>
            </a:extLst>
          </p:cNvPr>
          <p:cNvSpPr/>
          <p:nvPr/>
        </p:nvSpPr>
        <p:spPr>
          <a:xfrm>
            <a:off x="5301386" y="17989416"/>
            <a:ext cx="1295443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07" name="Text 133">
            <a:extLst>
              <a:ext uri="{FF2B5EF4-FFF2-40B4-BE49-F238E27FC236}">
                <a16:creationId xmlns:a16="http://schemas.microsoft.com/office/drawing/2014/main" id="{BC5AB5DA-1DD5-A06C-211A-2B1D992FB98E}"/>
              </a:ext>
            </a:extLst>
          </p:cNvPr>
          <p:cNvSpPr/>
          <p:nvPr/>
        </p:nvSpPr>
        <p:spPr>
          <a:xfrm>
            <a:off x="6571107" y="17989416"/>
            <a:ext cx="1295077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09" name="Text 134">
            <a:extLst>
              <a:ext uri="{FF2B5EF4-FFF2-40B4-BE49-F238E27FC236}">
                <a16:creationId xmlns:a16="http://schemas.microsoft.com/office/drawing/2014/main" id="{98A28AE7-C324-B995-3193-A5AA32D52A5C}"/>
              </a:ext>
            </a:extLst>
          </p:cNvPr>
          <p:cNvSpPr/>
          <p:nvPr/>
        </p:nvSpPr>
        <p:spPr>
          <a:xfrm>
            <a:off x="7840467" y="17989416"/>
            <a:ext cx="1295077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11" name="Text 135">
            <a:extLst>
              <a:ext uri="{FF2B5EF4-FFF2-40B4-BE49-F238E27FC236}">
                <a16:creationId xmlns:a16="http://schemas.microsoft.com/office/drawing/2014/main" id="{6E9925A6-EE65-E3E4-D7B5-228B1A9B97E1}"/>
              </a:ext>
            </a:extLst>
          </p:cNvPr>
          <p:cNvSpPr/>
          <p:nvPr/>
        </p:nvSpPr>
        <p:spPr>
          <a:xfrm>
            <a:off x="9109466" y="17989416"/>
            <a:ext cx="1295443" cy="74489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71%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13" name="Text 136">
            <a:extLst>
              <a:ext uri="{FF2B5EF4-FFF2-40B4-BE49-F238E27FC236}">
                <a16:creationId xmlns:a16="http://schemas.microsoft.com/office/drawing/2014/main" id="{AD63CBD2-3297-DCF0-095C-C10F7EA23587}"/>
              </a:ext>
            </a:extLst>
          </p:cNvPr>
          <p:cNvSpPr/>
          <p:nvPr/>
        </p:nvSpPr>
        <p:spPr>
          <a:xfrm>
            <a:off x="731906" y="18773478"/>
            <a:ext cx="2072488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Annealed (πP)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15" name="Text 137">
            <a:extLst>
              <a:ext uri="{FF2B5EF4-FFF2-40B4-BE49-F238E27FC236}">
                <a16:creationId xmlns:a16="http://schemas.microsoft.com/office/drawing/2014/main" id="{229FD76D-B1CE-3BC9-8574-7BA9925EB4A2}"/>
              </a:ext>
            </a:extLst>
          </p:cNvPr>
          <p:cNvSpPr/>
          <p:nvPr/>
        </p:nvSpPr>
        <p:spPr>
          <a:xfrm>
            <a:off x="2763027" y="1877347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82%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17" name="Text 138">
            <a:extLst>
              <a:ext uri="{FF2B5EF4-FFF2-40B4-BE49-F238E27FC236}">
                <a16:creationId xmlns:a16="http://schemas.microsoft.com/office/drawing/2014/main" id="{A9B6067F-975F-4EAE-AFEB-B2AEE71A740F}"/>
              </a:ext>
            </a:extLst>
          </p:cNvPr>
          <p:cNvSpPr/>
          <p:nvPr/>
        </p:nvSpPr>
        <p:spPr>
          <a:xfrm>
            <a:off x="4032026" y="1877347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19" name="Text 139">
            <a:extLst>
              <a:ext uri="{FF2B5EF4-FFF2-40B4-BE49-F238E27FC236}">
                <a16:creationId xmlns:a16="http://schemas.microsoft.com/office/drawing/2014/main" id="{21448CD6-3A52-0789-6224-8D46346D61C7}"/>
              </a:ext>
            </a:extLst>
          </p:cNvPr>
          <p:cNvSpPr/>
          <p:nvPr/>
        </p:nvSpPr>
        <p:spPr>
          <a:xfrm>
            <a:off x="5301386" y="1877347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21" name="Text 140">
            <a:extLst>
              <a:ext uri="{FF2B5EF4-FFF2-40B4-BE49-F238E27FC236}">
                <a16:creationId xmlns:a16="http://schemas.microsoft.com/office/drawing/2014/main" id="{50BA6B74-54B4-909D-46CA-2F8B85E85FBF}"/>
              </a:ext>
            </a:extLst>
          </p:cNvPr>
          <p:cNvSpPr/>
          <p:nvPr/>
        </p:nvSpPr>
        <p:spPr>
          <a:xfrm>
            <a:off x="6571107" y="1877347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23" name="Text 141">
            <a:extLst>
              <a:ext uri="{FF2B5EF4-FFF2-40B4-BE49-F238E27FC236}">
                <a16:creationId xmlns:a16="http://schemas.microsoft.com/office/drawing/2014/main" id="{4F509DD5-75FF-86B1-99B0-FF58FDE2FFD1}"/>
              </a:ext>
            </a:extLst>
          </p:cNvPr>
          <p:cNvSpPr/>
          <p:nvPr/>
        </p:nvSpPr>
        <p:spPr>
          <a:xfrm>
            <a:off x="7840467" y="18773478"/>
            <a:ext cx="1295077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25" name="Text 142">
            <a:extLst>
              <a:ext uri="{FF2B5EF4-FFF2-40B4-BE49-F238E27FC236}">
                <a16:creationId xmlns:a16="http://schemas.microsoft.com/office/drawing/2014/main" id="{8E73DDD3-E081-A135-B46D-67845C69C079}"/>
              </a:ext>
            </a:extLst>
          </p:cNvPr>
          <p:cNvSpPr/>
          <p:nvPr/>
        </p:nvSpPr>
        <p:spPr>
          <a:xfrm>
            <a:off x="9109466" y="18773478"/>
            <a:ext cx="1295443" cy="74455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4A55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75%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27" name="Text 143">
            <a:extLst>
              <a:ext uri="{FF2B5EF4-FFF2-40B4-BE49-F238E27FC236}">
                <a16:creationId xmlns:a16="http://schemas.microsoft.com/office/drawing/2014/main" id="{24BAB560-F874-F199-296F-2F8E72E39648}"/>
              </a:ext>
            </a:extLst>
          </p:cNvPr>
          <p:cNvSpPr/>
          <p:nvPr/>
        </p:nvSpPr>
        <p:spPr>
          <a:xfrm>
            <a:off x="731906" y="19557216"/>
            <a:ext cx="2072488" cy="744892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2B6C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STPS v2 (ours)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29" name="Text 144">
            <a:extLst>
              <a:ext uri="{FF2B5EF4-FFF2-40B4-BE49-F238E27FC236}">
                <a16:creationId xmlns:a16="http://schemas.microsoft.com/office/drawing/2014/main" id="{39422ACE-3D9B-028B-1F39-918546F361FE}"/>
              </a:ext>
            </a:extLst>
          </p:cNvPr>
          <p:cNvSpPr/>
          <p:nvPr/>
        </p:nvSpPr>
        <p:spPr>
          <a:xfrm>
            <a:off x="2763027" y="19557216"/>
            <a:ext cx="1295077" cy="744892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2B6C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88%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31" name="Text 145">
            <a:extLst>
              <a:ext uri="{FF2B5EF4-FFF2-40B4-BE49-F238E27FC236}">
                <a16:creationId xmlns:a16="http://schemas.microsoft.com/office/drawing/2014/main" id="{11B336D4-A38B-88DC-ADB0-AEA14BA9F39E}"/>
              </a:ext>
            </a:extLst>
          </p:cNvPr>
          <p:cNvSpPr/>
          <p:nvPr/>
        </p:nvSpPr>
        <p:spPr>
          <a:xfrm>
            <a:off x="4032026" y="19557216"/>
            <a:ext cx="1295443" cy="744892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2B6C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75±7%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33" name="Text 146">
            <a:extLst>
              <a:ext uri="{FF2B5EF4-FFF2-40B4-BE49-F238E27FC236}">
                <a16:creationId xmlns:a16="http://schemas.microsoft.com/office/drawing/2014/main" id="{AFADE717-B3A2-FFAD-66A5-134893EC026F}"/>
              </a:ext>
            </a:extLst>
          </p:cNvPr>
          <p:cNvSpPr/>
          <p:nvPr/>
        </p:nvSpPr>
        <p:spPr>
          <a:xfrm>
            <a:off x="5301386" y="19557216"/>
            <a:ext cx="1295443" cy="744892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35" name="Text 147">
            <a:extLst>
              <a:ext uri="{FF2B5EF4-FFF2-40B4-BE49-F238E27FC236}">
                <a16:creationId xmlns:a16="http://schemas.microsoft.com/office/drawing/2014/main" id="{264C2762-BD31-6421-E777-B5CF170FA2CA}"/>
              </a:ext>
            </a:extLst>
          </p:cNvPr>
          <p:cNvSpPr/>
          <p:nvPr/>
        </p:nvSpPr>
        <p:spPr>
          <a:xfrm>
            <a:off x="6571107" y="19557216"/>
            <a:ext cx="1295077" cy="744892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37" name="Text 148">
            <a:extLst>
              <a:ext uri="{FF2B5EF4-FFF2-40B4-BE49-F238E27FC236}">
                <a16:creationId xmlns:a16="http://schemas.microsoft.com/office/drawing/2014/main" id="{C8C221C2-9EF6-4524-F064-AA8887E118E9}"/>
              </a:ext>
            </a:extLst>
          </p:cNvPr>
          <p:cNvSpPr/>
          <p:nvPr/>
        </p:nvSpPr>
        <p:spPr>
          <a:xfrm>
            <a:off x="7840467" y="19557216"/>
            <a:ext cx="1295077" cy="744892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C53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100±0%</a:t>
            </a:r>
            <a:endParaRPr lang="en-US" sz="2400" b="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39" name="Text 149">
            <a:extLst>
              <a:ext uri="{FF2B5EF4-FFF2-40B4-BE49-F238E27FC236}">
                <a16:creationId xmlns:a16="http://schemas.microsoft.com/office/drawing/2014/main" id="{AC8D162A-AF06-3073-174B-E441F81E929E}"/>
              </a:ext>
            </a:extLst>
          </p:cNvPr>
          <p:cNvSpPr/>
          <p:nvPr/>
        </p:nvSpPr>
        <p:spPr>
          <a:xfrm>
            <a:off x="9109466" y="19557216"/>
            <a:ext cx="1295443" cy="744892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2556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2B6C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/>
              </a:rPr>
              <a:t>94%</a:t>
            </a:r>
            <a:endParaRPr lang="en-US" sz="2400" b="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41" name="Image 1" descr="/home/claude/poster_imgs/barchart.png">
            <a:extLst>
              <a:ext uri="{FF2B5EF4-FFF2-40B4-BE49-F238E27FC236}">
                <a16:creationId xmlns:a16="http://schemas.microsoft.com/office/drawing/2014/main" id="{9161BAF1-31EE-E99F-ACA8-F8F4C9FBEEF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759530" y="14782123"/>
            <a:ext cx="10138107" cy="5610802"/>
          </a:xfrm>
          <a:prstGeom prst="rect">
            <a:avLst/>
          </a:prstGeom>
          <a:ln w="0">
            <a:noFill/>
          </a:ln>
        </p:spPr>
      </p:pic>
      <p:sp>
        <p:nvSpPr>
          <p:cNvPr id="1843" name="Text 154">
            <a:extLst>
              <a:ext uri="{FF2B5EF4-FFF2-40B4-BE49-F238E27FC236}">
                <a16:creationId xmlns:a16="http://schemas.microsoft.com/office/drawing/2014/main" id="{1F2D9ABE-732D-D63F-6F2E-78F26AF63714}"/>
              </a:ext>
            </a:extLst>
          </p:cNvPr>
          <p:cNvSpPr/>
          <p:nvPr/>
        </p:nvSpPr>
        <p:spPr>
          <a:xfrm>
            <a:off x="639853" y="21135651"/>
            <a:ext cx="3432323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53030"/>
                </a:solidFill>
                <a:latin typeface="Calibri"/>
                <a:ea typeface="Calibri"/>
              </a:rPr>
              <a:t>Baseline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53030"/>
                </a:solidFill>
                <a:latin typeface="Calibri"/>
                <a:ea typeface="Calibri"/>
              </a:rPr>
              <a:t>U-trap: TIMEOUT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845" name="Text 155">
            <a:extLst>
              <a:ext uri="{FF2B5EF4-FFF2-40B4-BE49-F238E27FC236}">
                <a16:creationId xmlns:a16="http://schemas.microsoft.com/office/drawing/2014/main" id="{B34C14B5-D204-2D03-1F31-C9939E52186E}"/>
              </a:ext>
            </a:extLst>
          </p:cNvPr>
          <p:cNvSpPr/>
          <p:nvPr/>
        </p:nvSpPr>
        <p:spPr>
          <a:xfrm>
            <a:off x="5318413" y="21135651"/>
            <a:ext cx="3432323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53030"/>
                </a:solidFill>
                <a:latin typeface="Calibri"/>
                <a:ea typeface="Calibri"/>
              </a:rPr>
              <a:t>πE Narrow: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53030"/>
                </a:solidFill>
                <a:latin typeface="Calibri"/>
                <a:ea typeface="Calibri"/>
              </a:rPr>
              <a:t>COLLISION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849" name="Text 157">
            <a:extLst>
              <a:ext uri="{FF2B5EF4-FFF2-40B4-BE49-F238E27FC236}">
                <a16:creationId xmlns:a16="http://schemas.microsoft.com/office/drawing/2014/main" id="{30077C7A-75CE-0F3E-6567-1DF29EDC7944}"/>
              </a:ext>
            </a:extLst>
          </p:cNvPr>
          <p:cNvSpPr/>
          <p:nvPr/>
        </p:nvSpPr>
        <p:spPr>
          <a:xfrm>
            <a:off x="10383610" y="21273534"/>
            <a:ext cx="458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276749"/>
                </a:solidFill>
                <a:latin typeface="Calibri"/>
                <a:ea typeface="Calibri"/>
              </a:rPr>
              <a:t>STPS U-trap: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276749"/>
                </a:solidFill>
                <a:latin typeface="Calibri"/>
                <a:ea typeface="Calibri"/>
              </a:rPr>
              <a:t>SUCCESS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851" name="Text 158">
            <a:extLst>
              <a:ext uri="{FF2B5EF4-FFF2-40B4-BE49-F238E27FC236}">
                <a16:creationId xmlns:a16="http://schemas.microsoft.com/office/drawing/2014/main" id="{E85CF108-DCD7-08B5-16E8-60623C1708FC}"/>
              </a:ext>
            </a:extLst>
          </p:cNvPr>
          <p:cNvSpPr/>
          <p:nvPr/>
        </p:nvSpPr>
        <p:spPr>
          <a:xfrm>
            <a:off x="15062170" y="21207223"/>
            <a:ext cx="3250965" cy="5207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276749"/>
                </a:solidFill>
                <a:latin typeface="Calibri"/>
                <a:ea typeface="Calibri"/>
              </a:rPr>
              <a:t>STPS Narrow: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276749"/>
                </a:solidFill>
                <a:latin typeface="Calibri"/>
                <a:ea typeface="Calibri"/>
              </a:rPr>
              <a:t>SUCCESS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855" name="Shape 160">
            <a:extLst>
              <a:ext uri="{FF2B5EF4-FFF2-40B4-BE49-F238E27FC236}">
                <a16:creationId xmlns:a16="http://schemas.microsoft.com/office/drawing/2014/main" id="{3480E461-3174-95D4-7562-02A771885DA2}"/>
              </a:ext>
            </a:extLst>
          </p:cNvPr>
          <p:cNvSpPr/>
          <p:nvPr/>
        </p:nvSpPr>
        <p:spPr>
          <a:xfrm>
            <a:off x="274093" y="20572610"/>
            <a:ext cx="10228807" cy="503063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857" name="Shape 161">
            <a:extLst>
              <a:ext uri="{FF2B5EF4-FFF2-40B4-BE49-F238E27FC236}">
                <a16:creationId xmlns:a16="http://schemas.microsoft.com/office/drawing/2014/main" id="{87E2BFEB-33F0-1DB2-35A3-D2134FDC70E0}"/>
              </a:ext>
            </a:extLst>
          </p:cNvPr>
          <p:cNvSpPr/>
          <p:nvPr/>
        </p:nvSpPr>
        <p:spPr>
          <a:xfrm>
            <a:off x="411254" y="20709771"/>
            <a:ext cx="9993656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861" name="Text 163">
            <a:extLst>
              <a:ext uri="{FF2B5EF4-FFF2-40B4-BE49-F238E27FC236}">
                <a16:creationId xmlns:a16="http://schemas.microsoft.com/office/drawing/2014/main" id="{1F702C00-B366-C54C-2CE5-FE8927052926}"/>
              </a:ext>
            </a:extLst>
          </p:cNvPr>
          <p:cNvSpPr/>
          <p:nvPr/>
        </p:nvSpPr>
        <p:spPr>
          <a:xfrm>
            <a:off x="616993" y="20755491"/>
            <a:ext cx="9989864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Training Curves</a:t>
            </a:r>
            <a:endParaRPr lang="en-US" sz="3600" b="0" strike="noStrike" spc="-1" dirty="0"/>
          </a:p>
        </p:txBody>
      </p:sp>
      <p:pic>
        <p:nvPicPr>
          <p:cNvPr id="1863" name="Image 8" descr="/home/claude/poster_imgs/training.png">
            <a:extLst>
              <a:ext uri="{FF2B5EF4-FFF2-40B4-BE49-F238E27FC236}">
                <a16:creationId xmlns:a16="http://schemas.microsoft.com/office/drawing/2014/main" id="{26D66B6A-5C74-E80E-8B76-401F93B05986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502693" y="21253061"/>
            <a:ext cx="9758907" cy="4350183"/>
          </a:xfrm>
          <a:prstGeom prst="rect">
            <a:avLst/>
          </a:prstGeom>
          <a:ln w="0">
            <a:noFill/>
          </a:ln>
        </p:spPr>
      </p:pic>
      <p:sp>
        <p:nvSpPr>
          <p:cNvPr id="1865" name="Shape 165">
            <a:extLst>
              <a:ext uri="{FF2B5EF4-FFF2-40B4-BE49-F238E27FC236}">
                <a16:creationId xmlns:a16="http://schemas.microsoft.com/office/drawing/2014/main" id="{F9C8306A-F817-DB5F-5DD5-595032185422}"/>
              </a:ext>
            </a:extLst>
          </p:cNvPr>
          <p:cNvSpPr/>
          <p:nvPr/>
        </p:nvSpPr>
        <p:spPr>
          <a:xfrm>
            <a:off x="10740480" y="20597564"/>
            <a:ext cx="10142522" cy="493888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3200"/>
          </a:p>
        </p:txBody>
      </p:sp>
      <p:sp>
        <p:nvSpPr>
          <p:cNvPr id="1867" name="Shape 166">
            <a:extLst>
              <a:ext uri="{FF2B5EF4-FFF2-40B4-BE49-F238E27FC236}">
                <a16:creationId xmlns:a16="http://schemas.microsoft.com/office/drawing/2014/main" id="{9C602434-5D86-08CC-F6C9-271B7D9C647C}"/>
              </a:ext>
            </a:extLst>
          </p:cNvPr>
          <p:cNvSpPr/>
          <p:nvPr/>
        </p:nvSpPr>
        <p:spPr>
          <a:xfrm>
            <a:off x="10795090" y="20779689"/>
            <a:ext cx="9948092" cy="56812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871" name="Text 168">
            <a:extLst>
              <a:ext uri="{FF2B5EF4-FFF2-40B4-BE49-F238E27FC236}">
                <a16:creationId xmlns:a16="http://schemas.microsoft.com/office/drawing/2014/main" id="{8F37B529-D35E-0923-F14D-0CC9D13AA987}"/>
              </a:ext>
            </a:extLst>
          </p:cNvPr>
          <p:cNvSpPr/>
          <p:nvPr/>
        </p:nvSpPr>
        <p:spPr>
          <a:xfrm>
            <a:off x="10937330" y="20828718"/>
            <a:ext cx="9462016" cy="4733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Parameter Sensitivity</a:t>
            </a:r>
            <a:endParaRPr lang="en-US" sz="3600" b="0" strike="noStrike" spc="-1" dirty="0"/>
          </a:p>
        </p:txBody>
      </p:sp>
      <p:sp>
        <p:nvSpPr>
          <p:cNvPr id="1873" name="Text 169">
            <a:extLst>
              <a:ext uri="{FF2B5EF4-FFF2-40B4-BE49-F238E27FC236}">
                <a16:creationId xmlns:a16="http://schemas.microsoft.com/office/drawing/2014/main" id="{766EDEB5-A915-F553-B256-0F80B794A602}"/>
              </a:ext>
            </a:extLst>
          </p:cNvPr>
          <p:cNvSpPr/>
          <p:nvPr/>
        </p:nvSpPr>
        <p:spPr>
          <a:xfrm>
            <a:off x="11389450" y="21563546"/>
            <a:ext cx="2211453" cy="378623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3200"/>
          </a:p>
        </p:txBody>
      </p:sp>
      <p:sp>
        <p:nvSpPr>
          <p:cNvPr id="1875" name="Text 170">
            <a:extLst>
              <a:ext uri="{FF2B5EF4-FFF2-40B4-BE49-F238E27FC236}">
                <a16:creationId xmlns:a16="http://schemas.microsoft.com/office/drawing/2014/main" id="{9790EEA8-8A98-207F-BAB5-5466515E6D8C}"/>
              </a:ext>
            </a:extLst>
          </p:cNvPr>
          <p:cNvSpPr/>
          <p:nvPr/>
        </p:nvSpPr>
        <p:spPr>
          <a:xfrm>
            <a:off x="13430430" y="21563546"/>
            <a:ext cx="2211453" cy="378623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δ=0.10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77" name="Text 171">
            <a:extLst>
              <a:ext uri="{FF2B5EF4-FFF2-40B4-BE49-F238E27FC236}">
                <a16:creationId xmlns:a16="http://schemas.microsoft.com/office/drawing/2014/main" id="{C3112FF9-E8F7-2BA4-A4CE-CECE227B7B0E}"/>
              </a:ext>
            </a:extLst>
          </p:cNvPr>
          <p:cNvSpPr/>
          <p:nvPr/>
        </p:nvSpPr>
        <p:spPr>
          <a:xfrm>
            <a:off x="15630160" y="21563546"/>
            <a:ext cx="2211453" cy="378623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δ=0.15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79" name="Text 172">
            <a:extLst>
              <a:ext uri="{FF2B5EF4-FFF2-40B4-BE49-F238E27FC236}">
                <a16:creationId xmlns:a16="http://schemas.microsoft.com/office/drawing/2014/main" id="{B32DD7DE-7587-1BCA-1D73-49E89EF8A175}"/>
              </a:ext>
            </a:extLst>
          </p:cNvPr>
          <p:cNvSpPr/>
          <p:nvPr/>
        </p:nvSpPr>
        <p:spPr>
          <a:xfrm>
            <a:off x="17797780" y="21563546"/>
            <a:ext cx="2211453" cy="378623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δ=0.20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81" name="Text 173">
            <a:extLst>
              <a:ext uri="{FF2B5EF4-FFF2-40B4-BE49-F238E27FC236}">
                <a16:creationId xmlns:a16="http://schemas.microsoft.com/office/drawing/2014/main" id="{E650C0D3-9F3B-7AC4-3DED-9F79D6041EB0}"/>
              </a:ext>
            </a:extLst>
          </p:cNvPr>
          <p:cNvSpPr/>
          <p:nvPr/>
        </p:nvSpPr>
        <p:spPr>
          <a:xfrm>
            <a:off x="11389450" y="21929306"/>
            <a:ext cx="2211453" cy="378623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W=15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883" name="Text 174">
            <a:extLst>
              <a:ext uri="{FF2B5EF4-FFF2-40B4-BE49-F238E27FC236}">
                <a16:creationId xmlns:a16="http://schemas.microsoft.com/office/drawing/2014/main" id="{0070732C-5ADA-98DD-E8DB-31393F03FC6F}"/>
              </a:ext>
            </a:extLst>
          </p:cNvPr>
          <p:cNvSpPr/>
          <p:nvPr/>
        </p:nvSpPr>
        <p:spPr>
          <a:xfrm>
            <a:off x="13430430" y="21929306"/>
            <a:ext cx="2211453" cy="378623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4A5568"/>
                </a:solidFill>
                <a:latin typeface="Arial"/>
                <a:ea typeface="Arial"/>
              </a:rPr>
              <a:t>42/100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85" name="Text 175">
            <a:extLst>
              <a:ext uri="{FF2B5EF4-FFF2-40B4-BE49-F238E27FC236}">
                <a16:creationId xmlns:a16="http://schemas.microsoft.com/office/drawing/2014/main" id="{12EC1547-4111-6DD1-D502-F73B11014745}"/>
              </a:ext>
            </a:extLst>
          </p:cNvPr>
          <p:cNvSpPr/>
          <p:nvPr/>
        </p:nvSpPr>
        <p:spPr>
          <a:xfrm>
            <a:off x="15668260" y="21929306"/>
            <a:ext cx="2211453" cy="378623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4A5568"/>
                </a:solidFill>
                <a:latin typeface="Arial"/>
                <a:ea typeface="Arial"/>
              </a:rPr>
              <a:t>42/100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87" name="Text 176">
            <a:extLst>
              <a:ext uri="{FF2B5EF4-FFF2-40B4-BE49-F238E27FC236}">
                <a16:creationId xmlns:a16="http://schemas.microsoft.com/office/drawing/2014/main" id="{0831E42F-27CA-03D5-4EF7-9C4B02E63F77}"/>
              </a:ext>
            </a:extLst>
          </p:cNvPr>
          <p:cNvSpPr/>
          <p:nvPr/>
        </p:nvSpPr>
        <p:spPr>
          <a:xfrm>
            <a:off x="17785080" y="21929306"/>
            <a:ext cx="2211453" cy="378623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4A5568"/>
                </a:solidFill>
                <a:latin typeface="Arial"/>
                <a:ea typeface="Arial"/>
              </a:rPr>
              <a:t>67/100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89" name="Text 177">
            <a:extLst>
              <a:ext uri="{FF2B5EF4-FFF2-40B4-BE49-F238E27FC236}">
                <a16:creationId xmlns:a16="http://schemas.microsoft.com/office/drawing/2014/main" id="{49CBC56C-DC73-8978-3DE7-255B419BB83C}"/>
              </a:ext>
            </a:extLst>
          </p:cNvPr>
          <p:cNvSpPr/>
          <p:nvPr/>
        </p:nvSpPr>
        <p:spPr>
          <a:xfrm>
            <a:off x="11389450" y="22295066"/>
            <a:ext cx="2211453" cy="378623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W=20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891" name="Text 178">
            <a:extLst>
              <a:ext uri="{FF2B5EF4-FFF2-40B4-BE49-F238E27FC236}">
                <a16:creationId xmlns:a16="http://schemas.microsoft.com/office/drawing/2014/main" id="{D3558D8B-6616-D52C-3CF6-1F7A964F07C4}"/>
              </a:ext>
            </a:extLst>
          </p:cNvPr>
          <p:cNvSpPr/>
          <p:nvPr/>
        </p:nvSpPr>
        <p:spPr>
          <a:xfrm>
            <a:off x="13430430" y="22295066"/>
            <a:ext cx="2211453" cy="378623"/>
          </a:xfrm>
          <a:prstGeom prst="rect">
            <a:avLst/>
          </a:prstGeom>
          <a:solidFill>
            <a:srgbClr val="E6FF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3" name="Text 179">
            <a:extLst>
              <a:ext uri="{FF2B5EF4-FFF2-40B4-BE49-F238E27FC236}">
                <a16:creationId xmlns:a16="http://schemas.microsoft.com/office/drawing/2014/main" id="{F965A3CB-A423-260B-39D3-E8F4424EA69F}"/>
              </a:ext>
            </a:extLst>
          </p:cNvPr>
          <p:cNvSpPr/>
          <p:nvPr/>
        </p:nvSpPr>
        <p:spPr>
          <a:xfrm>
            <a:off x="15668260" y="22295066"/>
            <a:ext cx="2211453" cy="378623"/>
          </a:xfrm>
          <a:prstGeom prst="rect">
            <a:avLst/>
          </a:prstGeom>
          <a:solidFill>
            <a:srgbClr val="E6FF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5" name="Text 180">
            <a:extLst>
              <a:ext uri="{FF2B5EF4-FFF2-40B4-BE49-F238E27FC236}">
                <a16:creationId xmlns:a16="http://schemas.microsoft.com/office/drawing/2014/main" id="{D50C1F24-2B21-33EB-A0B7-82A21DB24E68}"/>
              </a:ext>
            </a:extLst>
          </p:cNvPr>
          <p:cNvSpPr/>
          <p:nvPr/>
        </p:nvSpPr>
        <p:spPr>
          <a:xfrm>
            <a:off x="17785080" y="22295066"/>
            <a:ext cx="2211453" cy="378623"/>
          </a:xfrm>
          <a:prstGeom prst="rect">
            <a:avLst/>
          </a:prstGeom>
          <a:solidFill>
            <a:srgbClr val="E6FFFA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7" name="Text 181">
            <a:extLst>
              <a:ext uri="{FF2B5EF4-FFF2-40B4-BE49-F238E27FC236}">
                <a16:creationId xmlns:a16="http://schemas.microsoft.com/office/drawing/2014/main" id="{299E1793-35C9-D09D-A38C-E14DAEA2B373}"/>
              </a:ext>
            </a:extLst>
          </p:cNvPr>
          <p:cNvSpPr/>
          <p:nvPr/>
        </p:nvSpPr>
        <p:spPr>
          <a:xfrm>
            <a:off x="11389450" y="22660826"/>
            <a:ext cx="2211453" cy="378623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W=30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9" name="Text 182">
            <a:extLst>
              <a:ext uri="{FF2B5EF4-FFF2-40B4-BE49-F238E27FC236}">
                <a16:creationId xmlns:a16="http://schemas.microsoft.com/office/drawing/2014/main" id="{28BA2AD1-14B8-96F8-91D2-105AC4FC8BA6}"/>
              </a:ext>
            </a:extLst>
          </p:cNvPr>
          <p:cNvSpPr/>
          <p:nvPr/>
        </p:nvSpPr>
        <p:spPr>
          <a:xfrm>
            <a:off x="13430430" y="22660826"/>
            <a:ext cx="2211453" cy="378623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4A5568"/>
                </a:solidFill>
                <a:latin typeface="Arial"/>
                <a:ea typeface="Arial"/>
              </a:rPr>
              <a:t>0/100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901" name="Text 183">
            <a:extLst>
              <a:ext uri="{FF2B5EF4-FFF2-40B4-BE49-F238E27FC236}">
                <a16:creationId xmlns:a16="http://schemas.microsoft.com/office/drawing/2014/main" id="{B0AF3A92-4228-17CE-B715-90BD604493DC}"/>
              </a:ext>
            </a:extLst>
          </p:cNvPr>
          <p:cNvSpPr/>
          <p:nvPr/>
        </p:nvSpPr>
        <p:spPr>
          <a:xfrm>
            <a:off x="15668260" y="22660826"/>
            <a:ext cx="2211453" cy="378623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4A5568"/>
                </a:solidFill>
                <a:latin typeface="Arial"/>
                <a:ea typeface="Arial"/>
              </a:rPr>
              <a:t>17/100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903" name="Text 184">
            <a:extLst>
              <a:ext uri="{FF2B5EF4-FFF2-40B4-BE49-F238E27FC236}">
                <a16:creationId xmlns:a16="http://schemas.microsoft.com/office/drawing/2014/main" id="{857A1979-8976-8DD6-A631-C478CF40EF82}"/>
              </a:ext>
            </a:extLst>
          </p:cNvPr>
          <p:cNvSpPr/>
          <p:nvPr/>
        </p:nvSpPr>
        <p:spPr>
          <a:xfrm>
            <a:off x="17785080" y="22660826"/>
            <a:ext cx="2211453" cy="378623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4A5568"/>
                </a:solidFill>
                <a:latin typeface="Arial"/>
                <a:ea typeface="Arial"/>
              </a:rPr>
              <a:t>25/100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905" name="Text 185">
            <a:extLst>
              <a:ext uri="{FF2B5EF4-FFF2-40B4-BE49-F238E27FC236}">
                <a16:creationId xmlns:a16="http://schemas.microsoft.com/office/drawing/2014/main" id="{38DC5082-94F7-950B-D368-0392A34FDB0C}"/>
              </a:ext>
            </a:extLst>
          </p:cNvPr>
          <p:cNvSpPr/>
          <p:nvPr/>
        </p:nvSpPr>
        <p:spPr>
          <a:xfrm>
            <a:off x="11313250" y="23199540"/>
            <a:ext cx="9753662" cy="662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400" b="0" i="1" strike="noStrike" spc="-1" dirty="0">
                <a:solidFill>
                  <a:srgbClr val="276749"/>
                </a:solidFill>
                <a:ea typeface="Calibri"/>
              </a:rPr>
              <a:t>Narrow door = 100% across entire grid → switching never harms precision</a:t>
            </a:r>
            <a:endParaRPr lang="en-US" sz="2400" b="0" strike="noStrike" spc="-1" dirty="0"/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400" b="0" i="1" strike="noStrike" spc="-1" dirty="0">
                <a:solidFill>
                  <a:srgbClr val="276749"/>
                </a:solidFill>
                <a:ea typeface="Calibri"/>
              </a:rPr>
              <a:t>W=20: stable 67% U-trap regardless of δ → no per-env tuning needed</a:t>
            </a:r>
            <a:endParaRPr lang="en-US" sz="2400" b="0" strike="noStrike" spc="-1" dirty="0"/>
          </a:p>
        </p:txBody>
      </p:sp>
      <p:sp>
        <p:nvSpPr>
          <p:cNvPr id="1907" name="Text 186">
            <a:extLst>
              <a:ext uri="{FF2B5EF4-FFF2-40B4-BE49-F238E27FC236}">
                <a16:creationId xmlns:a16="http://schemas.microsoft.com/office/drawing/2014/main" id="{ADCADF1F-3021-8DEF-30BA-A4D6CDFF1BE5}"/>
              </a:ext>
            </a:extLst>
          </p:cNvPr>
          <p:cNvSpPr/>
          <p:nvPr/>
        </p:nvSpPr>
        <p:spPr>
          <a:xfrm>
            <a:off x="11313250" y="24006910"/>
            <a:ext cx="9753662" cy="2364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1A365D"/>
                </a:solidFill>
                <a:ea typeface="Arial"/>
              </a:rPr>
              <a:t>What didn't work:</a:t>
            </a:r>
            <a:endParaRPr lang="en-US" sz="2400" b="0" strike="noStrike" spc="-1" dirty="0"/>
          </a:p>
        </p:txBody>
      </p:sp>
      <p:sp>
        <p:nvSpPr>
          <p:cNvPr id="1909" name="Text 187">
            <a:extLst>
              <a:ext uri="{FF2B5EF4-FFF2-40B4-BE49-F238E27FC236}">
                <a16:creationId xmlns:a16="http://schemas.microsoft.com/office/drawing/2014/main" id="{AFCEA8DE-6E92-A40E-51EA-BCC1628EC965}"/>
              </a:ext>
            </a:extLst>
          </p:cNvPr>
          <p:cNvSpPr/>
          <p:nvPr/>
        </p:nvSpPr>
        <p:spPr>
          <a:xfrm>
            <a:off x="11313250" y="24617629"/>
            <a:ext cx="9753662" cy="5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4A5568"/>
                </a:solidFill>
                <a:ea typeface="Calibri"/>
              </a:rPr>
              <a:t>• STPS v3 (progressive escape): no gain</a:t>
            </a:r>
            <a:endParaRPr lang="en-US" sz="2000" b="0" strike="noStrike" spc="-1" dirty="0"/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4A5568"/>
                </a:solidFill>
                <a:ea typeface="Calibri"/>
              </a:rPr>
              <a:t>• U-trap specialist model: 83% = original improved</a:t>
            </a:r>
            <a:endParaRPr lang="en-US" sz="2000" b="0" strike="noStrike" spc="-1" dirty="0"/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4A5568"/>
                </a:solidFill>
                <a:ea typeface="Calibri"/>
              </a:rPr>
              <a:t>• Bottleneck = geometric difficulty</a:t>
            </a:r>
            <a:endParaRPr lang="en-US" sz="2000" b="0" strike="noStrike" spc="-1" dirty="0"/>
          </a:p>
        </p:txBody>
      </p:sp>
      <p:sp>
        <p:nvSpPr>
          <p:cNvPr id="1953" name="Text 164">
            <a:extLst>
              <a:ext uri="{FF2B5EF4-FFF2-40B4-BE49-F238E27FC236}">
                <a16:creationId xmlns:a16="http://schemas.microsoft.com/office/drawing/2014/main" id="{37D4E556-124D-4063-E35B-37DE9DD39BBA}"/>
              </a:ext>
            </a:extLst>
          </p:cNvPr>
          <p:cNvSpPr/>
          <p:nvPr/>
        </p:nvSpPr>
        <p:spPr>
          <a:xfrm>
            <a:off x="401114" y="27699440"/>
            <a:ext cx="10072296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4A5568"/>
                </a:solidFill>
                <a:latin typeface="Calibri"/>
                <a:ea typeface="Calibri"/>
              </a:rPr>
              <a:t>Left: Baseline converges to ~87% SR; Improved (πE) to ~78% (exploration bonus reduces standard SR).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4A5568"/>
                </a:solidFill>
                <a:latin typeface="Calibri"/>
                <a:ea typeface="Calibri"/>
              </a:rPr>
              <a:t>Right: Annealing v7 — SR oscillates as exploration coefficient decays.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55" name="Shape 188">
            <a:extLst>
              <a:ext uri="{FF2B5EF4-FFF2-40B4-BE49-F238E27FC236}">
                <a16:creationId xmlns:a16="http://schemas.microsoft.com/office/drawing/2014/main" id="{748B6EBE-564D-928C-D113-C56C2DD69774}"/>
              </a:ext>
            </a:extLst>
          </p:cNvPr>
          <p:cNvSpPr/>
          <p:nvPr/>
        </p:nvSpPr>
        <p:spPr>
          <a:xfrm>
            <a:off x="59419" y="25747480"/>
            <a:ext cx="10422493" cy="344407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957" name="Shape 189">
            <a:extLst>
              <a:ext uri="{FF2B5EF4-FFF2-40B4-BE49-F238E27FC236}">
                <a16:creationId xmlns:a16="http://schemas.microsoft.com/office/drawing/2014/main" id="{7306B18A-CE2A-5A36-94DB-CB093860C697}"/>
              </a:ext>
            </a:extLst>
          </p:cNvPr>
          <p:cNvSpPr/>
          <p:nvPr/>
        </p:nvSpPr>
        <p:spPr>
          <a:xfrm>
            <a:off x="218234" y="25839390"/>
            <a:ext cx="10186675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961" name="Text 191">
            <a:extLst>
              <a:ext uri="{FF2B5EF4-FFF2-40B4-BE49-F238E27FC236}">
                <a16:creationId xmlns:a16="http://schemas.microsoft.com/office/drawing/2014/main" id="{DF0186B3-1F4E-8829-9B63-E7AB2CF8BD28}"/>
              </a:ext>
            </a:extLst>
          </p:cNvPr>
          <p:cNvSpPr/>
          <p:nvPr/>
        </p:nvSpPr>
        <p:spPr>
          <a:xfrm>
            <a:off x="303324" y="25866060"/>
            <a:ext cx="630197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Conclusion</a:t>
            </a:r>
            <a:endParaRPr lang="en-US" sz="3600" b="0" strike="noStrike" spc="-1" dirty="0"/>
          </a:p>
        </p:txBody>
      </p:sp>
      <p:sp>
        <p:nvSpPr>
          <p:cNvPr id="1963" name="Text 192">
            <a:extLst>
              <a:ext uri="{FF2B5EF4-FFF2-40B4-BE49-F238E27FC236}">
                <a16:creationId xmlns:a16="http://schemas.microsoft.com/office/drawing/2014/main" id="{E9AD6BA2-8CE3-00D9-C31B-2510176EE086}"/>
              </a:ext>
            </a:extLst>
          </p:cNvPr>
          <p:cNvSpPr/>
          <p:nvPr/>
        </p:nvSpPr>
        <p:spPr>
          <a:xfrm>
            <a:off x="309674" y="26231820"/>
            <a:ext cx="10239614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35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1. Exploration rewards create a hard, irreconcilable conflict with precision navigation in DRL.</a:t>
            </a:r>
            <a:endParaRPr lang="en-US" sz="2400" b="0" strike="noStrike" spc="-1" dirty="0"/>
          </a:p>
          <a:p>
            <a:pPr>
              <a:lnSpc>
                <a:spcPct val="135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2. STPS resolves this by composing complementary frozen policies at runtime with stall/oscillation detection.</a:t>
            </a:r>
            <a:endParaRPr lang="en-US" sz="2400" b="0" strike="noStrike" spc="-1" dirty="0"/>
          </a:p>
          <a:p>
            <a:pPr>
              <a:lnSpc>
                <a:spcPct val="135000"/>
              </a:lnSpc>
              <a:buNone/>
              <a:tabLst>
                <a:tab pos="0" algn="l"/>
              </a:tabLst>
            </a:pPr>
            <a:r>
              <a:rPr lang="en-US" sz="2400" spc="-1" dirty="0">
                <a:solidFill>
                  <a:srgbClr val="4A5568"/>
                </a:solidFill>
                <a:ea typeface="Calibri"/>
              </a:rPr>
              <a:t>3</a:t>
            </a: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. The method requires zero additional training and adds negligible (&lt;0.1ms) computational overhead.</a:t>
            </a:r>
            <a:endParaRPr lang="en-US" sz="2400" b="0" strike="noStrike" spc="-1" dirty="0"/>
          </a:p>
        </p:txBody>
      </p:sp>
      <p:sp>
        <p:nvSpPr>
          <p:cNvPr id="1965" name="Shape 198">
            <a:extLst>
              <a:ext uri="{FF2B5EF4-FFF2-40B4-BE49-F238E27FC236}">
                <a16:creationId xmlns:a16="http://schemas.microsoft.com/office/drawing/2014/main" id="{910DBB64-18CB-13F1-1746-0D45BA460B88}"/>
              </a:ext>
            </a:extLst>
          </p:cNvPr>
          <p:cNvSpPr/>
          <p:nvPr/>
        </p:nvSpPr>
        <p:spPr>
          <a:xfrm>
            <a:off x="10760439" y="25689730"/>
            <a:ext cx="10384335" cy="355884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blurRad="50760" dist="19080" dir="162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967" name="Shape 199">
            <a:extLst>
              <a:ext uri="{FF2B5EF4-FFF2-40B4-BE49-F238E27FC236}">
                <a16:creationId xmlns:a16="http://schemas.microsoft.com/office/drawing/2014/main" id="{5A2ACC79-6A23-619A-E4E9-30742978A3DD}"/>
              </a:ext>
            </a:extLst>
          </p:cNvPr>
          <p:cNvSpPr/>
          <p:nvPr/>
        </p:nvSpPr>
        <p:spPr>
          <a:xfrm>
            <a:off x="10838411" y="25818918"/>
            <a:ext cx="10077492" cy="614002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969" name="Text 201">
            <a:extLst>
              <a:ext uri="{FF2B5EF4-FFF2-40B4-BE49-F238E27FC236}">
                <a16:creationId xmlns:a16="http://schemas.microsoft.com/office/drawing/2014/main" id="{5AF446DD-5948-BA3D-F475-2F53AF68A1D7}"/>
              </a:ext>
            </a:extLst>
          </p:cNvPr>
          <p:cNvSpPr/>
          <p:nvPr/>
        </p:nvSpPr>
        <p:spPr>
          <a:xfrm>
            <a:off x="10770719" y="25872610"/>
            <a:ext cx="8610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1A365D"/>
                </a:solidFill>
                <a:ea typeface="Arial"/>
              </a:rPr>
              <a:t>Application</a:t>
            </a:r>
            <a:endParaRPr lang="en-US" sz="3600" b="0" strike="noStrike" spc="-1" dirty="0"/>
          </a:p>
        </p:txBody>
      </p:sp>
      <p:sp>
        <p:nvSpPr>
          <p:cNvPr id="1971" name="Text 202">
            <a:extLst>
              <a:ext uri="{FF2B5EF4-FFF2-40B4-BE49-F238E27FC236}">
                <a16:creationId xmlns:a16="http://schemas.microsoft.com/office/drawing/2014/main" id="{C939EAF0-5736-DF96-DF1A-1CFB8D1A1501}"/>
              </a:ext>
            </a:extLst>
          </p:cNvPr>
          <p:cNvSpPr/>
          <p:nvPr/>
        </p:nvSpPr>
        <p:spPr>
          <a:xfrm>
            <a:off x="10811239" y="26380345"/>
            <a:ext cx="1389852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Sim-to-real advantages:</a:t>
            </a:r>
            <a:endParaRPr lang="en-US" sz="2400" b="0" strike="noStrike" spc="-1" dirty="0"/>
          </a:p>
          <a:p>
            <a:pPr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• STPS switching logic is pure Python if-else — no GPU, no retrain</a:t>
            </a:r>
            <a:endParaRPr lang="en-US" sz="2400" b="0" strike="noStrike" spc="-1" dirty="0"/>
          </a:p>
          <a:p>
            <a:pPr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• Both policies use standard LiDAR input, directly transferable</a:t>
            </a:r>
            <a:endParaRPr lang="en-US" sz="2400" b="0" strike="noStrike" spc="-1" dirty="0"/>
          </a:p>
          <a:p>
            <a:pPr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Deployable scenarios:</a:t>
            </a:r>
            <a:endParaRPr lang="en-US" sz="2400" b="0" strike="noStrike" spc="-1" dirty="0"/>
          </a:p>
          <a:p>
            <a:pPr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• Warehouse navigation with shelf dead-ends</a:t>
            </a:r>
            <a:endParaRPr lang="en-US" sz="2400" b="0" strike="noStrike" spc="-1" dirty="0"/>
          </a:p>
          <a:p>
            <a:pPr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4A5568"/>
                </a:solidFill>
                <a:ea typeface="Calibri"/>
              </a:rPr>
              <a:t>• Any indoor space with concave obstacles</a:t>
            </a:r>
            <a:endParaRPr lang="en-US" sz="2400" b="0" strike="noStrike" spc="-1" dirty="0"/>
          </a:p>
        </p:txBody>
      </p:sp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542440B3381244913595524F442B95" ma:contentTypeVersion="17" ma:contentTypeDescription="Create a new document." ma:contentTypeScope="" ma:versionID="6ee5fad9225ee4861531c1ddf5c72bfa">
  <xsd:schema xmlns:xsd="http://www.w3.org/2001/XMLSchema" xmlns:xs="http://www.w3.org/2001/XMLSchema" xmlns:p="http://schemas.microsoft.com/office/2006/metadata/properties" xmlns:ns2="5ba57bcb-f582-4dfe-b097-ca0487efe0a8" xmlns:ns3="8f359d49-0ea8-407e-9873-8f4dcb0a2f66" targetNamespace="http://schemas.microsoft.com/office/2006/metadata/properties" ma:root="true" ma:fieldsID="0d90d1f6051f37191be1cc0d6b224652" ns2:_="" ns3:_="">
    <xsd:import namespace="5ba57bcb-f582-4dfe-b097-ca0487efe0a8"/>
    <xsd:import namespace="8f359d49-0ea8-407e-9873-8f4dcb0a2f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57bcb-f582-4dfe-b097-ca0487efe0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ec97fc6-704b-4e8b-a60b-3023a21630d3}" ma:internalName="TaxCatchAll" ma:showField="CatchAllData" ma:web="5ba57bcb-f582-4dfe-b097-ca0487efe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59d49-0ea8-407e-9873-8f4dcb0a2f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b41eaff-6be1-43e3-aa28-e44eb035eb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a57bcb-f582-4dfe-b097-ca0487efe0a8" xsi:nil="true"/>
    <lcf76f155ced4ddcb4097134ff3c332f xmlns="8f359d49-0ea8-407e-9873-8f4dcb0a2f6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FBA1C3-1007-45B2-9991-64F001C1E8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a57bcb-f582-4dfe-b097-ca0487efe0a8"/>
    <ds:schemaRef ds:uri="8f359d49-0ea8-407e-9873-8f4dcb0a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D092BC-268B-4DAB-904E-617AC27E3B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BBC5C6-C79F-42CC-B03E-1C7D98C7F351}">
  <ds:schemaRefs>
    <ds:schemaRef ds:uri="http://schemas.openxmlformats.org/package/2006/metadata/core-properties"/>
    <ds:schemaRef ds:uri="http://www.w3.org/XML/1998/namespace"/>
    <ds:schemaRef ds:uri="http://purl.org/dc/elements/1.1/"/>
    <ds:schemaRef ds:uri="5ba57bcb-f582-4dfe-b097-ca0487efe0a8"/>
    <ds:schemaRef ds:uri="http://purl.org/dc/dcmitype/"/>
    <ds:schemaRef ds:uri="http://schemas.microsoft.com/office/infopath/2007/PartnerControls"/>
    <ds:schemaRef ds:uri="http://schemas.microsoft.com/office/2006/documentManagement/types"/>
    <ds:schemaRef ds:uri="8f359d49-0ea8-407e-9873-8f4dcb0a2f66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</TotalTime>
  <Words>721</Words>
  <Application>Microsoft Office PowerPoint</Application>
  <PresentationFormat>自定义</PresentationFormat>
  <Paragraphs>146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SimSun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FURP project team</dc:creator>
  <cp:lastModifiedBy>FURP project team</cp:lastModifiedBy>
  <cp:revision>11</cp:revision>
  <dcterms:created xsi:type="dcterms:W3CDTF">2022-05-10T01:47:32Z</dcterms:created>
  <dcterms:modified xsi:type="dcterms:W3CDTF">2026-09-29T04:05:08Z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0x01010004542440B3381244913595524F442B95</vt:lpwstr>
  </property>
  <property fmtid="{D5CDD505-2E9C-101B-9397-08002B2CF9AE}" pid="3" name="Order">
    <vt:r8>32685000</vt:r8>
  </property>
</Properties>
</file>